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8"/>
  </p:notesMasterIdLst>
  <p:handoutMasterIdLst>
    <p:handoutMasterId r:id="rId19"/>
  </p:handoutMasterIdLst>
  <p:sldIdLst>
    <p:sldId id="338" r:id="rId3"/>
    <p:sldId id="322" r:id="rId4"/>
    <p:sldId id="351" r:id="rId5"/>
    <p:sldId id="357" r:id="rId6"/>
    <p:sldId id="350" r:id="rId7"/>
    <p:sldId id="352" r:id="rId8"/>
    <p:sldId id="361" r:id="rId9"/>
    <p:sldId id="362" r:id="rId10"/>
    <p:sldId id="353" r:id="rId11"/>
    <p:sldId id="354" r:id="rId12"/>
    <p:sldId id="358" r:id="rId13"/>
    <p:sldId id="355" r:id="rId14"/>
    <p:sldId id="356" r:id="rId15"/>
    <p:sldId id="360" r:id="rId16"/>
    <p:sldId id="332" r:id="rId17"/>
  </p:sldIdLst>
  <p:sldSz cx="12192000" cy="6858000"/>
  <p:notesSz cx="7102475" cy="9037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5833"/>
  </p:normalViewPr>
  <p:slideViewPr>
    <p:cSldViewPr snapToGrid="0" snapToObjects="1">
      <p:cViewPr varScale="1">
        <p:scale>
          <a:sx n="106" d="100"/>
          <a:sy n="106" d="100"/>
        </p:scale>
        <p:origin x="84" y="200"/>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t>8/28/2026</a:t>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56171" cy="453451"/>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8/28/2026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28-08-2026</a:t>
            </a:fld>
            <a:endParaRPr lang="en-US"/>
          </a:p>
        </p:txBody>
      </p:sp>
      <p:sp>
        <p:nvSpPr>
          <p:cNvPr id="5" name="Footer Placeholder 4"/>
          <p:cNvSpPr>
            <a:spLocks noGrp="1"/>
          </p:cNvSpPr>
          <p:nvPr>
            <p:ph type="ftr" sz="quarter" idx="11"/>
          </p:nvPr>
        </p:nvSpPr>
        <p:spPr/>
        <p:txBody>
          <a:bodyPr/>
          <a:lstStyle/>
          <a:p>
            <a:r>
              <a:rPr lang="en-US" dirty="0"/>
              <a:t>REVIEW – 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28-08-2026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28-08-2026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1807.10359"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abs/pii/S174228761830344X" TargetMode="External"/><Relationship Id="rId5" Type="http://schemas.openxmlformats.org/officeDocument/2006/relationships/hyperlink" Target="https://www.researchgate.net/publication/221260542" TargetMode="External"/><Relationship Id="rId4" Type="http://schemas.openxmlformats.org/officeDocument/2006/relationships/hyperlink" Target="https://arxiv.org/abs/2605.00065"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l.acm.org/doi/10.1145/3407023.3409199"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researchgate.net/publication/380909587" TargetMode="External"/><Relationship Id="rId5" Type="http://schemas.openxmlformats.org/officeDocument/2006/relationships/hyperlink" Target="https://www.researchgate.net/publication/332594361" TargetMode="External"/><Relationship Id="rId4" Type="http://schemas.openxmlformats.org/officeDocument/2006/relationships/hyperlink" Target="https://link.springer.com/article/10.1186/s41935-023-00383-w"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papers.academic-conferences.org/index.php/iccws/article/download/2025/1940/7598"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www.sciencedirect.com/science/article/abs/pii/S2214212623001631"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l.acm.org/doi/10.1145/3407023.3409199" TargetMode="External"/><Relationship Id="rId3" Type="http://schemas.openxmlformats.org/officeDocument/2006/relationships/hyperlink" Target="https://www.sciencedirect.com/science/article/abs/pii/S2214212623001631" TargetMode="External"/><Relationship Id="rId7" Type="http://schemas.openxmlformats.org/officeDocument/2006/relationships/hyperlink" Target="https://www.sciencedirect.com/science/article/abs/pii/S174228761830344X"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researchgate.net/publication/221260542" TargetMode="External"/><Relationship Id="rId11" Type="http://schemas.openxmlformats.org/officeDocument/2006/relationships/hyperlink" Target="https://www.researchgate.net/publication/380909587" TargetMode="External"/><Relationship Id="rId5" Type="http://schemas.openxmlformats.org/officeDocument/2006/relationships/hyperlink" Target="https://arxiv.org/abs/2605.00065" TargetMode="External"/><Relationship Id="rId10" Type="http://schemas.openxmlformats.org/officeDocument/2006/relationships/hyperlink" Target="https://www.researchgate.net/publication/332594361" TargetMode="External"/><Relationship Id="rId4" Type="http://schemas.openxmlformats.org/officeDocument/2006/relationships/hyperlink" Target="https://arxiv.org/abs/1807.10359" TargetMode="External"/><Relationship Id="rId9" Type="http://schemas.openxmlformats.org/officeDocument/2006/relationships/hyperlink" Target="https://link.springer.com/article/10.1186/s41935-023-00383-w"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sciencedirect.com/science/article/abs/pii/S2214212623001631"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papers.academic-conferences.org/index.php/iccws/article/download/2025/1940/7598"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19609" y="595713"/>
            <a:ext cx="10515600" cy="1100826"/>
          </a:xfrm>
        </p:spPr>
        <p:txBody>
          <a:bodyPr>
            <a:noAutofit/>
          </a:bodyPr>
          <a:lstStyle/>
          <a:p>
            <a:pPr algn="ctr">
              <a:lnSpc>
                <a:spcPct val="100000"/>
              </a:lnSpc>
            </a:pPr>
            <a:r>
              <a:rPr lang="da-DK" sz="24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br>
              <a:rPr lang="da-DK" sz="2400" b="1" dirty="0">
                <a:latin typeface="Times New Roman" panose="02020603050405020304" pitchFamily="18" charset="0"/>
                <a:cs typeface="Times New Roman" panose="02020603050405020304" pitchFamily="18" charset="0"/>
              </a:rPr>
            </a:br>
            <a:r>
              <a:rPr lang="da-DK" sz="2400" b="1" dirty="0">
                <a:solidFill>
                  <a:srgbClr val="0070C0"/>
                </a:solidFill>
                <a:latin typeface="Times New Roman" panose="02020603050405020304" pitchFamily="18" charset="0"/>
                <a:cs typeface="Times New Roman" panose="02020603050405020304" pitchFamily="18" charset="0"/>
              </a:rPr>
              <a:t>Project Review-1</a:t>
            </a:r>
            <a:br>
              <a:rPr lang="en-US" sz="2400" b="1" dirty="0">
                <a:latin typeface="Times New Roman" panose="02020603050405020304" pitchFamily="18" charset="0"/>
                <a:cs typeface="Times New Roman" panose="02020603050405020304" pitchFamily="18" charset="0"/>
              </a:rPr>
            </a:br>
            <a:r>
              <a:rPr lang="en-US" sz="2400" b="1" dirty="0">
                <a:solidFill>
                  <a:schemeClr val="accent6"/>
                </a:solidFill>
                <a:latin typeface="Times New Roman" panose="02020603050405020304" pitchFamily="18" charset="0"/>
                <a:cs typeface="Times New Roman" panose="02020603050405020304" pitchFamily="18" charset="0"/>
              </a:rPr>
              <a:t>Project Title: Verifiable Chain-of-Custody for Digital Evidence Files</a:t>
            </a:r>
            <a:endParaRPr lang="en-US" altLang="en-US" sz="2400"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3976751" y="2350246"/>
            <a:ext cx="5201316" cy="1130435"/>
          </a:xfrm>
        </p:spPr>
        <p:txBody>
          <a:bodyPr>
            <a:noAutofit/>
          </a:bodyPr>
          <a:lstStyle/>
          <a:p>
            <a:pPr marL="0" indent="0" algn="just">
              <a:buNone/>
            </a:pPr>
            <a:r>
              <a:rPr lang="en-IN" sz="2000" b="1" dirty="0">
                <a:latin typeface="Times New Roman" panose="02020603050405020304" pitchFamily="18" charset="0"/>
                <a:cs typeface="Times New Roman" panose="02020603050405020304" pitchFamily="18" charset="0"/>
              </a:rPr>
              <a:t>2320030360- Chilakapati Srijaya Chakradhar</a:t>
            </a:r>
          </a:p>
          <a:p>
            <a:pPr marL="0" indent="0" algn="just">
              <a:buNone/>
            </a:pPr>
            <a:r>
              <a:rPr lang="en-US" sz="2000" b="1" dirty="0">
                <a:latin typeface="Times New Roman" panose="02020603050405020304" pitchFamily="18" charset="0"/>
                <a:cs typeface="Times New Roman" panose="02020603050405020304" pitchFamily="18" charset="0"/>
              </a:rPr>
              <a:t>2320030195- Gogineni Nikhil Sai</a:t>
            </a:r>
          </a:p>
          <a:p>
            <a:pPr marL="0" indent="0" algn="just">
              <a:buNone/>
            </a:pPr>
            <a:r>
              <a:rPr lang="en-US" sz="2000" b="1" dirty="0">
                <a:latin typeface="Times New Roman" panose="02020603050405020304" pitchFamily="18" charset="0"/>
                <a:cs typeface="Times New Roman" panose="02020603050405020304" pitchFamily="18" charset="0"/>
              </a:rPr>
              <a:t>2320030438- </a:t>
            </a:r>
            <a:r>
              <a:rPr lang="en-US" sz="2000" b="1" dirty="0" err="1">
                <a:latin typeface="Times New Roman" panose="02020603050405020304" pitchFamily="18" charset="0"/>
                <a:cs typeface="Times New Roman" panose="02020603050405020304" pitchFamily="18" charset="0"/>
              </a:rPr>
              <a:t>Pusunuru</a:t>
            </a:r>
            <a:r>
              <a:rPr lang="en-US" sz="2000" b="1" dirty="0">
                <a:latin typeface="Times New Roman" panose="02020603050405020304" pitchFamily="18" charset="0"/>
                <a:cs typeface="Times New Roman" panose="02020603050405020304" pitchFamily="18" charset="0"/>
              </a:rPr>
              <a:t> Preetham</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1400"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437923A7-D8E7-1742-AE5C-E3C19725FB52}" type="datetime1">
              <a:rPr lang="en-IN" smtClean="0"/>
              <a:t>28-08-2026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endParaRPr lang="en-US" sz="1800" b="1" dirty="0">
              <a:solidFill>
                <a:srgbClr val="C0000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endParaRPr lang="en-US" sz="1800" b="1" dirty="0">
              <a:solidFill>
                <a:srgbClr val="C0000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r>
              <a:rPr lang="en-US" sz="1800" b="1" dirty="0">
                <a:solidFill>
                  <a:srgbClr val="C00000"/>
                </a:solidFill>
                <a:latin typeface="Times New Roman" panose="02020603050405020304" pitchFamily="18" charset="0"/>
                <a:cs typeface="Times New Roman" panose="02020603050405020304" pitchFamily="18" charset="0"/>
              </a:rPr>
              <a:t>KONERU LAKSHMAIAH EDUCATION FOUNDATION</a:t>
            </a:r>
          </a:p>
          <a:p>
            <a:pPr marL="0" indent="0">
              <a:buFont typeface="Arial" panose="020B0604020202020204" pitchFamily="34" charset="0"/>
              <a:buNone/>
            </a:pPr>
            <a:endParaRPr lang="en-US" sz="1800" b="1" dirty="0">
              <a:solidFill>
                <a:srgbClr val="0070C0"/>
              </a:solidFill>
              <a:latin typeface="Times New Roman" panose="02020603050405020304" pitchFamily="18" charset="0"/>
              <a:cs typeface="Times New Roman" panose="02020603050405020304" pitchFamily="18" charset="0"/>
            </a:endParaRPr>
          </a:p>
        </p:txBody>
      </p:sp>
      <p:sp>
        <p:nvSpPr>
          <p:cNvPr id="10" name="Content Placeholder 3"/>
          <p:cNvSpPr txBox="1"/>
          <p:nvPr/>
        </p:nvSpPr>
        <p:spPr>
          <a:xfrm>
            <a:off x="961417" y="3362634"/>
            <a:ext cx="10515600" cy="180629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Under the Guidance of</a:t>
            </a: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Guide Name: </a:t>
            </a:r>
            <a:r>
              <a:rPr lang="en-US" sz="2400" dirty="0">
                <a:solidFill>
                  <a:srgbClr val="002060"/>
                </a:solidFill>
                <a:latin typeface="Times New Roman" panose="02020603050405020304" pitchFamily="18" charset="0"/>
                <a:cs typeface="Times New Roman" panose="02020603050405020304" pitchFamily="18" charset="0"/>
              </a:rPr>
              <a:t>Dr. Archana Kalidindi</a:t>
            </a: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Designation: </a:t>
            </a:r>
            <a:r>
              <a:rPr lang="en-US" sz="2400" dirty="0">
                <a:solidFill>
                  <a:srgbClr val="002060"/>
                </a:solidFill>
                <a:latin typeface="Times New Roman" panose="02020603050405020304" pitchFamily="18" charset="0"/>
                <a:cs typeface="Times New Roman" panose="02020603050405020304" pitchFamily="18" charset="0"/>
              </a:rPr>
              <a:t>Assistant Professor</a:t>
            </a: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Department of Computer Science and Engineering</a:t>
            </a:r>
          </a:p>
          <a:p>
            <a:pPr marL="0" indent="0">
              <a:buFont typeface="Arial" panose="020B0604020202020204" pitchFamily="34" charset="0"/>
              <a:buNone/>
            </a:pP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395" y="5136862"/>
            <a:ext cx="2175809" cy="897941"/>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
        <p:nvSpPr>
          <p:cNvPr id="4" name="TextBox 3">
            <a:extLst>
              <a:ext uri="{FF2B5EF4-FFF2-40B4-BE49-F238E27FC236}">
                <a16:creationId xmlns:a16="http://schemas.microsoft.com/office/drawing/2014/main" id="{75C3767A-9534-EA07-77AD-02D0C67AE667}"/>
              </a:ext>
            </a:extLst>
          </p:cNvPr>
          <p:cNvSpPr txBox="1"/>
          <p:nvPr/>
        </p:nvSpPr>
        <p:spPr>
          <a:xfrm>
            <a:off x="5379457" y="1911982"/>
            <a:ext cx="1433085"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Team No- 21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Literature Survey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 Gap Identification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Innovation, Creativity, and 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Feasibility and Project Plan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28-08-2026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PRC-I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28-08-2026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r>
              <a:rPr lang="en-US" dirty="0"/>
              <a:t>PRC-I    </a:t>
            </a:r>
          </a:p>
        </p:txBody>
      </p:sp>
      <p:sp>
        <p:nvSpPr>
          <p:cNvPr id="28" name="Text 1">
            <a:extLst>
              <a:ext uri="{FF2B5EF4-FFF2-40B4-BE49-F238E27FC236}">
                <a16:creationId xmlns:a16="http://schemas.microsoft.com/office/drawing/2014/main" id="{37881F1B-76B0-7CEF-329F-246812D3F360}"/>
              </a:ext>
            </a:extLst>
          </p:cNvPr>
          <p:cNvSpPr/>
          <p:nvPr/>
        </p:nvSpPr>
        <p:spPr>
          <a:xfrm>
            <a:off x="833120" y="1429798"/>
            <a:ext cx="5029200" cy="365760"/>
          </a:xfrm>
          <a:prstGeom prst="rect">
            <a:avLst/>
          </a:prstGeom>
          <a:noFill/>
          <a:ln/>
        </p:spPr>
        <p:txBody>
          <a:bodyPr wrap="square" rtlCol="0" anchor="ctr"/>
          <a:lstStyle/>
          <a:p>
            <a:pPr marL="0" indent="0">
              <a:buNone/>
            </a:pPr>
            <a:r>
              <a:rPr lang="en-US" b="1" dirty="0">
                <a:solidFill>
                  <a:srgbClr val="1F4E79"/>
                </a:solidFill>
                <a:latin typeface="Times New Roman" panose="02020603050405020304" pitchFamily="18" charset="0"/>
                <a:ea typeface="Calibri" pitchFamily="34" charset="-122"/>
                <a:cs typeface="Times New Roman" panose="02020603050405020304" pitchFamily="18" charset="0"/>
              </a:rPr>
              <a:t>Background</a:t>
            </a:r>
            <a:endParaRPr lang="en-US" dirty="0">
              <a:latin typeface="Times New Roman" panose="02020603050405020304" pitchFamily="18" charset="0"/>
              <a:cs typeface="Times New Roman" panose="02020603050405020304" pitchFamily="18" charset="0"/>
            </a:endParaRPr>
          </a:p>
        </p:txBody>
      </p:sp>
      <p:sp>
        <p:nvSpPr>
          <p:cNvPr id="30" name="Text 2">
            <a:extLst>
              <a:ext uri="{FF2B5EF4-FFF2-40B4-BE49-F238E27FC236}">
                <a16:creationId xmlns:a16="http://schemas.microsoft.com/office/drawing/2014/main" id="{869B06C2-7818-B5D3-AC9E-833D7F0B0D7F}"/>
              </a:ext>
            </a:extLst>
          </p:cNvPr>
          <p:cNvSpPr/>
          <p:nvPr/>
        </p:nvSpPr>
        <p:spPr>
          <a:xfrm>
            <a:off x="822960" y="1783080"/>
            <a:ext cx="5120640" cy="1371600"/>
          </a:xfrm>
          <a:prstGeom prst="rect">
            <a:avLst/>
          </a:prstGeom>
          <a:noFill/>
          <a:ln/>
        </p:spPr>
        <p:txBody>
          <a:bodyPr wrap="square" rtlCol="0" anchor="t"/>
          <a:lstStyle/>
          <a:p>
            <a:pPr marL="0" indent="0" algn="jus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Digital forensic investigations disk images, memory dumps, browser artifacts depend on an unbroken, provable chain of custody to be admissible in court. Traditional custody logs are paper-based or spreadsheet-based, easy to alter and hard to audit.</a:t>
            </a:r>
            <a:endParaRPr lang="en-US" sz="1500" dirty="0">
              <a:latin typeface="Times New Roman" panose="02020603050405020304" pitchFamily="18" charset="0"/>
              <a:cs typeface="Times New Roman" panose="02020603050405020304" pitchFamily="18" charset="0"/>
            </a:endParaRPr>
          </a:p>
        </p:txBody>
      </p:sp>
      <p:sp>
        <p:nvSpPr>
          <p:cNvPr id="32" name="Text 3">
            <a:extLst>
              <a:ext uri="{FF2B5EF4-FFF2-40B4-BE49-F238E27FC236}">
                <a16:creationId xmlns:a16="http://schemas.microsoft.com/office/drawing/2014/main" id="{00B760E4-EC14-4717-5D2B-99C9534D6103}"/>
              </a:ext>
            </a:extLst>
          </p:cNvPr>
          <p:cNvSpPr/>
          <p:nvPr/>
        </p:nvSpPr>
        <p:spPr>
          <a:xfrm>
            <a:off x="822960" y="3246120"/>
            <a:ext cx="5029200" cy="365760"/>
          </a:xfrm>
          <a:prstGeom prst="rect">
            <a:avLst/>
          </a:prstGeom>
          <a:noFill/>
          <a:ln/>
        </p:spPr>
        <p:txBody>
          <a:bodyPr wrap="square" rtlCol="0" anchor="ctr"/>
          <a:lstStyle/>
          <a:p>
            <a:pPr marL="0" indent="0">
              <a:buNone/>
            </a:pPr>
            <a:r>
              <a:rPr lang="en-US" b="1" dirty="0">
                <a:solidFill>
                  <a:srgbClr val="1F4E79"/>
                </a:solidFill>
                <a:latin typeface="Times New Roman" panose="02020603050405020304" pitchFamily="18" charset="0"/>
                <a:ea typeface="Calibri" pitchFamily="34" charset="-122"/>
                <a:cs typeface="Times New Roman" panose="02020603050405020304" pitchFamily="18" charset="0"/>
              </a:rPr>
              <a:t>Importance</a:t>
            </a:r>
            <a:endParaRPr lang="en-US" dirty="0">
              <a:latin typeface="Times New Roman" panose="02020603050405020304" pitchFamily="18" charset="0"/>
              <a:cs typeface="Times New Roman" panose="02020603050405020304" pitchFamily="18" charset="0"/>
            </a:endParaRPr>
          </a:p>
        </p:txBody>
      </p:sp>
      <p:sp>
        <p:nvSpPr>
          <p:cNvPr id="34" name="Text 4">
            <a:extLst>
              <a:ext uri="{FF2B5EF4-FFF2-40B4-BE49-F238E27FC236}">
                <a16:creationId xmlns:a16="http://schemas.microsoft.com/office/drawing/2014/main" id="{8775C29C-CFC7-5230-98CD-0A16DC7E4252}"/>
              </a:ext>
            </a:extLst>
          </p:cNvPr>
          <p:cNvSpPr/>
          <p:nvPr/>
        </p:nvSpPr>
        <p:spPr>
          <a:xfrm>
            <a:off x="822960" y="3611880"/>
            <a:ext cx="5120640" cy="1188720"/>
          </a:xfrm>
          <a:prstGeom prst="rect">
            <a:avLst/>
          </a:prstGeom>
          <a:noFill/>
          <a:ln/>
        </p:spPr>
        <p:txBody>
          <a:bodyPr wrap="square" rtlCol="0" anchor="t"/>
          <a:lstStyle/>
          <a:p>
            <a:pPr marL="0" indent="0" algn="jus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As digital evidence volume grows across IoT, cloud, and mobile platforms, manual custody tracking cannot scale and courts increasingly scrutinize evidence integrity claims.</a:t>
            </a:r>
            <a:endParaRPr lang="en-US" sz="1500" dirty="0">
              <a:latin typeface="Times New Roman" panose="02020603050405020304" pitchFamily="18" charset="0"/>
              <a:cs typeface="Times New Roman" panose="02020603050405020304" pitchFamily="18" charset="0"/>
            </a:endParaRPr>
          </a:p>
        </p:txBody>
      </p:sp>
      <p:sp>
        <p:nvSpPr>
          <p:cNvPr id="36" name="Text 5">
            <a:extLst>
              <a:ext uri="{FF2B5EF4-FFF2-40B4-BE49-F238E27FC236}">
                <a16:creationId xmlns:a16="http://schemas.microsoft.com/office/drawing/2014/main" id="{B55DAF2C-14B0-751B-BA0A-149F57AF7E4E}"/>
              </a:ext>
            </a:extLst>
          </p:cNvPr>
          <p:cNvSpPr/>
          <p:nvPr/>
        </p:nvSpPr>
        <p:spPr>
          <a:xfrm>
            <a:off x="6263640" y="1417320"/>
            <a:ext cx="5120640" cy="365760"/>
          </a:xfrm>
          <a:prstGeom prst="rect">
            <a:avLst/>
          </a:prstGeom>
          <a:noFill/>
          <a:ln/>
        </p:spPr>
        <p:txBody>
          <a:bodyPr wrap="square" rtlCol="0" anchor="ctr"/>
          <a:lstStyle/>
          <a:p>
            <a:pPr marL="0" indent="0">
              <a:buNone/>
            </a:pPr>
            <a:r>
              <a:rPr lang="en-US" b="1" dirty="0">
                <a:solidFill>
                  <a:srgbClr val="1F4E79"/>
                </a:solidFill>
                <a:latin typeface="Times New Roman" panose="02020603050405020304" pitchFamily="18" charset="0"/>
                <a:ea typeface="Calibri" pitchFamily="34" charset="-122"/>
                <a:cs typeface="Times New Roman" panose="02020603050405020304" pitchFamily="18" charset="0"/>
              </a:rPr>
              <a:t>Problem Being Solved</a:t>
            </a:r>
            <a:endParaRPr lang="en-US" dirty="0">
              <a:latin typeface="Times New Roman" panose="02020603050405020304" pitchFamily="18" charset="0"/>
              <a:cs typeface="Times New Roman" panose="02020603050405020304" pitchFamily="18" charset="0"/>
            </a:endParaRPr>
          </a:p>
        </p:txBody>
      </p:sp>
      <p:sp>
        <p:nvSpPr>
          <p:cNvPr id="38" name="Text 6">
            <a:extLst>
              <a:ext uri="{FF2B5EF4-FFF2-40B4-BE49-F238E27FC236}">
                <a16:creationId xmlns:a16="http://schemas.microsoft.com/office/drawing/2014/main" id="{A38D2213-6C2E-4142-1265-889933B7E7CD}"/>
              </a:ext>
            </a:extLst>
          </p:cNvPr>
          <p:cNvSpPr/>
          <p:nvPr/>
        </p:nvSpPr>
        <p:spPr>
          <a:xfrm>
            <a:off x="6263640" y="1783080"/>
            <a:ext cx="5120640" cy="1463040"/>
          </a:xfrm>
          <a:prstGeom prst="rect">
            <a:avLst/>
          </a:prstGeom>
          <a:noFill/>
          <a:ln/>
        </p:spPr>
        <p:txBody>
          <a:bodyPr wrap="square" rtlCol="0" anchor="t"/>
          <a:lstStyle/>
          <a:p>
            <a:pPr marL="0" indent="0" algn="jus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There is no lightweight, self-contained way to cryptographically prove that an evidence file's custody record who touched it, when, and what was done hasn't been altered after the fact, without adopting heavyweight distributed blockchain infrastructure.</a:t>
            </a:r>
            <a:endParaRPr lang="en-US" sz="1500" dirty="0">
              <a:latin typeface="Times New Roman" panose="02020603050405020304" pitchFamily="18" charset="0"/>
              <a:cs typeface="Times New Roman" panose="02020603050405020304" pitchFamily="18" charset="0"/>
            </a:endParaRPr>
          </a:p>
        </p:txBody>
      </p:sp>
      <p:sp>
        <p:nvSpPr>
          <p:cNvPr id="40" name="Text 7">
            <a:extLst>
              <a:ext uri="{FF2B5EF4-FFF2-40B4-BE49-F238E27FC236}">
                <a16:creationId xmlns:a16="http://schemas.microsoft.com/office/drawing/2014/main" id="{AB0B5615-661E-0B48-721E-AE0FE4CD6B30}"/>
              </a:ext>
            </a:extLst>
          </p:cNvPr>
          <p:cNvSpPr/>
          <p:nvPr/>
        </p:nvSpPr>
        <p:spPr>
          <a:xfrm>
            <a:off x="6096000" y="3246120"/>
            <a:ext cx="5120640" cy="365760"/>
          </a:xfrm>
          <a:prstGeom prst="rect">
            <a:avLst/>
          </a:prstGeom>
          <a:noFill/>
          <a:ln/>
        </p:spPr>
        <p:txBody>
          <a:bodyPr wrap="square" rtlCol="0" anchor="ctr"/>
          <a:lstStyle/>
          <a:p>
            <a:pPr marL="0" indent="0">
              <a:buNone/>
            </a:pPr>
            <a:r>
              <a:rPr lang="en-US" b="1" dirty="0">
                <a:solidFill>
                  <a:srgbClr val="1F4E79"/>
                </a:solidFill>
                <a:latin typeface="Times New Roman" panose="02020603050405020304" pitchFamily="18" charset="0"/>
                <a:ea typeface="Calibri" pitchFamily="34" charset="-122"/>
                <a:cs typeface="Times New Roman" panose="02020603050405020304" pitchFamily="18" charset="0"/>
              </a:rPr>
              <a:t>Application</a:t>
            </a:r>
            <a:endParaRPr lang="en-US" dirty="0">
              <a:latin typeface="Times New Roman" panose="02020603050405020304" pitchFamily="18" charset="0"/>
              <a:cs typeface="Times New Roman" panose="02020603050405020304" pitchFamily="18" charset="0"/>
            </a:endParaRPr>
          </a:p>
        </p:txBody>
      </p:sp>
      <p:sp>
        <p:nvSpPr>
          <p:cNvPr id="42" name="Text 8">
            <a:extLst>
              <a:ext uri="{FF2B5EF4-FFF2-40B4-BE49-F238E27FC236}">
                <a16:creationId xmlns:a16="http://schemas.microsoft.com/office/drawing/2014/main" id="{864FFCBE-E7E9-8F9C-8F01-6A2677637F42}"/>
              </a:ext>
            </a:extLst>
          </p:cNvPr>
          <p:cNvSpPr/>
          <p:nvPr/>
        </p:nvSpPr>
        <p:spPr>
          <a:xfrm>
            <a:off x="6096000" y="3611880"/>
            <a:ext cx="5120640" cy="1281430"/>
          </a:xfrm>
          <a:prstGeom prst="rect">
            <a:avLst/>
          </a:prstGeom>
          <a:noFill/>
          <a:ln/>
        </p:spPr>
        <p:txBody>
          <a:bodyPr wrap="square" rtlCol="0" anchor="ctr"/>
          <a:lstStyle/>
          <a:p>
            <a:pPr marL="285750" indent="-285750" algn="just">
              <a:spcAft>
                <a:spcPts val="600"/>
              </a:spcAft>
              <a:buSzPct val="100000"/>
              <a:buFont typeface="Arial" panose="020B0604020202020204" pitchFamily="34" charset="0"/>
              <a:buChar char="•"/>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Law enforcement digital forensics labs</a:t>
            </a:r>
            <a:endParaRPr lang="en-US" sz="1500" dirty="0">
              <a:latin typeface="Times New Roman" panose="02020603050405020304" pitchFamily="18" charset="0"/>
              <a:cs typeface="Times New Roman" panose="02020603050405020304" pitchFamily="18" charset="0"/>
            </a:endParaRPr>
          </a:p>
          <a:p>
            <a:pPr marL="285750" indent="-285750" algn="just">
              <a:spcAft>
                <a:spcPts val="600"/>
              </a:spcAft>
              <a:buSzPct val="100000"/>
              <a:buFont typeface="Arial" panose="020B0604020202020204" pitchFamily="34" charset="0"/>
              <a:buChar char="•"/>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Corporate incident response teams</a:t>
            </a:r>
            <a:endParaRPr lang="en-US" sz="1500" dirty="0">
              <a:latin typeface="Times New Roman" panose="02020603050405020304" pitchFamily="18" charset="0"/>
              <a:cs typeface="Times New Roman" panose="02020603050405020304" pitchFamily="18" charset="0"/>
            </a:endParaRPr>
          </a:p>
          <a:p>
            <a:pPr marL="285750" indent="-285750" algn="just">
              <a:spcAft>
                <a:spcPts val="600"/>
              </a:spcAft>
              <a:buSzPct val="100000"/>
              <a:buFont typeface="Arial" panose="020B0604020202020204" pitchFamily="34" charset="0"/>
              <a:buChar char="•"/>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Academic forensic training environments</a:t>
            </a:r>
            <a:endParaRPr lang="en-US" sz="1500" dirty="0">
              <a:latin typeface="Times New Roman" panose="02020603050405020304" pitchFamily="18" charset="0"/>
              <a:cs typeface="Times New Roman" panose="02020603050405020304" pitchFamily="18" charset="0"/>
            </a:endParaRPr>
          </a:p>
          <a:p>
            <a:pPr marL="285750" indent="-285750" algn="just">
              <a:spcAft>
                <a:spcPts val="600"/>
              </a:spcAft>
              <a:buSzPct val="100000"/>
              <a:buFont typeface="Arial" panose="020B0604020202020204" pitchFamily="34" charset="0"/>
              <a:buChar char="•"/>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ISO/IEC 27037 &amp; NIST SP 800-86 aligned workflows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4174-E81B-4768-8B99-C41881EF5EA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Problem Statement</a:t>
            </a:r>
            <a:endParaRPr lang="en-IN" dirty="0"/>
          </a:p>
        </p:txBody>
      </p:sp>
      <p:sp>
        <p:nvSpPr>
          <p:cNvPr id="4" name="Date Placeholder 3">
            <a:extLst>
              <a:ext uri="{FF2B5EF4-FFF2-40B4-BE49-F238E27FC236}">
                <a16:creationId xmlns:a16="http://schemas.microsoft.com/office/drawing/2014/main" id="{0D185FB1-B28D-4C1B-A7FA-1B6AE4E26B08}"/>
              </a:ext>
            </a:extLst>
          </p:cNvPr>
          <p:cNvSpPr>
            <a:spLocks noGrp="1"/>
          </p:cNvSpPr>
          <p:nvPr>
            <p:ph type="dt" sz="half" idx="10"/>
          </p:nvPr>
        </p:nvSpPr>
        <p:spPr>
          <a:xfrm>
            <a:off x="838200" y="6365777"/>
            <a:ext cx="2743200" cy="365125"/>
          </a:xfrm>
        </p:spPr>
        <p:txBody>
          <a:bodyPr/>
          <a:lstStyle/>
          <a:p>
            <a:fld id="{C7A4DE8B-8D6B-8C46-B882-6A2CD2BC96F0}" type="datetime1">
              <a:rPr lang="en-IN" smtClean="0"/>
              <a:t>28-08-2026</a:t>
            </a:fld>
            <a:endParaRPr lang="en-US"/>
          </a:p>
        </p:txBody>
      </p:sp>
      <p:sp>
        <p:nvSpPr>
          <p:cNvPr id="6" name="Slide Number Placeholder 5">
            <a:extLst>
              <a:ext uri="{FF2B5EF4-FFF2-40B4-BE49-F238E27FC236}">
                <a16:creationId xmlns:a16="http://schemas.microsoft.com/office/drawing/2014/main" id="{52C09634-64A3-451F-B3E1-F9F54FC12B45}"/>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Footer Placeholder 2">
            <a:extLst>
              <a:ext uri="{FF2B5EF4-FFF2-40B4-BE49-F238E27FC236}">
                <a16:creationId xmlns:a16="http://schemas.microsoft.com/office/drawing/2014/main" id="{D9CC9555-106F-46B4-BA3D-25EA6B87723C}"/>
              </a:ext>
            </a:extLst>
          </p:cNvPr>
          <p:cNvSpPr>
            <a:spLocks noGrp="1"/>
          </p:cNvSpPr>
          <p:nvPr>
            <p:ph type="ftr" sz="quarter" idx="11"/>
          </p:nvPr>
        </p:nvSpPr>
        <p:spPr>
          <a:xfrm>
            <a:off x="4038600" y="6356350"/>
            <a:ext cx="4114800" cy="365125"/>
          </a:xfrm>
        </p:spPr>
        <p:txBody>
          <a:bodyPr/>
          <a:lstStyle/>
          <a:p>
            <a:r>
              <a:rPr lang="en-US" dirty="0"/>
              <a:t>PRC-I    </a:t>
            </a:r>
          </a:p>
        </p:txBody>
      </p:sp>
      <p:sp>
        <p:nvSpPr>
          <p:cNvPr id="13" name="TextBox 12">
            <a:extLst>
              <a:ext uri="{FF2B5EF4-FFF2-40B4-BE49-F238E27FC236}">
                <a16:creationId xmlns:a16="http://schemas.microsoft.com/office/drawing/2014/main" id="{72D37788-24D9-CE47-5E5A-0339274E9449}"/>
              </a:ext>
            </a:extLst>
          </p:cNvPr>
          <p:cNvSpPr txBox="1"/>
          <p:nvPr/>
        </p:nvSpPr>
        <p:spPr>
          <a:xfrm>
            <a:off x="838200" y="1690688"/>
            <a:ext cx="10724147" cy="1431161"/>
          </a:xfrm>
          <a:prstGeom prst="rect">
            <a:avLst/>
          </a:prstGeom>
          <a:noFill/>
        </p:spPr>
        <p:txBody>
          <a:bodyPr wrap="square" rtlCol="0">
            <a:spAutoFit/>
          </a:bodyPr>
          <a:lstStyle/>
          <a:p>
            <a:pPr algn="just"/>
            <a:r>
              <a:rPr lang="en-IN" sz="1500" dirty="0">
                <a:latin typeface="Times New Roman" panose="02020603050405020304" pitchFamily="18" charset="0"/>
                <a:cs typeface="Times New Roman" panose="02020603050405020304" pitchFamily="18" charset="0"/>
              </a:rPr>
              <a:t>Existing custody logs whether manual forms, spreadsheets, or even some blockchain-based prototypes either lack cryptographic tamper-evidence or require distributed consensus infrastructure (Ethereum, Hyperledger) that is impractical for a single lab or small forensic team. There is a need for a </a:t>
            </a:r>
            <a:r>
              <a:rPr lang="en-IN" sz="1500" b="1" dirty="0">
                <a:latin typeface="Times New Roman" panose="02020603050405020304" pitchFamily="18" charset="0"/>
                <a:cs typeface="Times New Roman" panose="02020603050405020304" pitchFamily="18" charset="0"/>
              </a:rPr>
              <a:t>standalone, verifiable custody log</a:t>
            </a:r>
            <a:r>
              <a:rPr lang="en-IN" sz="1500" dirty="0">
                <a:latin typeface="Times New Roman" panose="02020603050405020304" pitchFamily="18" charset="0"/>
                <a:cs typeface="Times New Roman" panose="02020603050405020304" pitchFamily="18" charset="0"/>
              </a:rPr>
              <a:t> that uses SHA-256 hash chaining, Merkle trees, and ECDSA digital signatures to make any retroactive tampering mathematically detectable without reliance on distributed consensus or public blockchain infrastructure.</a:t>
            </a:r>
          </a:p>
          <a:p>
            <a:pPr algn="just"/>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319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28-08-2026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53D0FDF3-DB89-46A2-B389-76810F8CAAF1}"/>
              </a:ext>
            </a:extLst>
          </p:cNvPr>
          <p:cNvSpPr>
            <a:spLocks noGrp="1"/>
          </p:cNvSpPr>
          <p:nvPr>
            <p:ph type="ftr" sz="quarter" idx="11"/>
          </p:nvPr>
        </p:nvSpPr>
        <p:spPr>
          <a:xfrm>
            <a:off x="4038600" y="6356350"/>
            <a:ext cx="4114800" cy="365125"/>
          </a:xfrm>
        </p:spPr>
        <p:txBody>
          <a:bodyPr/>
          <a:lstStyle/>
          <a:p>
            <a:r>
              <a:rPr lang="en-US" dirty="0"/>
              <a:t>PRC-I    </a:t>
            </a:r>
          </a:p>
        </p:txBody>
      </p:sp>
      <p:sp>
        <p:nvSpPr>
          <p:cNvPr id="10" name="Shape 1">
            <a:extLst>
              <a:ext uri="{FF2B5EF4-FFF2-40B4-BE49-F238E27FC236}">
                <a16:creationId xmlns:a16="http://schemas.microsoft.com/office/drawing/2014/main" id="{4586182A-0D4C-D22E-C94A-1C568069CC34}"/>
              </a:ext>
            </a:extLst>
          </p:cNvPr>
          <p:cNvSpPr/>
          <p:nvPr/>
        </p:nvSpPr>
        <p:spPr>
          <a:xfrm>
            <a:off x="822960" y="1581912"/>
            <a:ext cx="457200" cy="457200"/>
          </a:xfrm>
          <a:prstGeom prst="ellipse">
            <a:avLst/>
          </a:prstGeom>
          <a:solidFill>
            <a:srgbClr val="1F4E79"/>
          </a:solidFill>
          <a:ln/>
        </p:spPr>
        <p:txBody>
          <a:bodyPr/>
          <a:lstStyle/>
          <a:p>
            <a:endParaRPr lang="en-IN"/>
          </a:p>
        </p:txBody>
      </p:sp>
      <p:sp>
        <p:nvSpPr>
          <p:cNvPr id="13" name="Text 2">
            <a:extLst>
              <a:ext uri="{FF2B5EF4-FFF2-40B4-BE49-F238E27FC236}">
                <a16:creationId xmlns:a16="http://schemas.microsoft.com/office/drawing/2014/main" id="{E7F63B3D-9477-801A-1B49-34DBF476F05C}"/>
              </a:ext>
            </a:extLst>
          </p:cNvPr>
          <p:cNvSpPr/>
          <p:nvPr/>
        </p:nvSpPr>
        <p:spPr>
          <a:xfrm>
            <a:off x="822960" y="158191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 name="Text 3">
            <a:extLst>
              <a:ext uri="{FF2B5EF4-FFF2-40B4-BE49-F238E27FC236}">
                <a16:creationId xmlns:a16="http://schemas.microsoft.com/office/drawing/2014/main" id="{B412CD87-949F-FD86-CFC9-1C3E1E1843E3}"/>
              </a:ext>
            </a:extLst>
          </p:cNvPr>
          <p:cNvSpPr/>
          <p:nvPr/>
        </p:nvSpPr>
        <p:spPr>
          <a:xfrm>
            <a:off x="1508760" y="1581912"/>
            <a:ext cx="9875520" cy="651251"/>
          </a:xfrm>
          <a:prstGeom prst="rect">
            <a:avLst/>
          </a:prstGeom>
          <a:noFill/>
          <a:ln/>
        </p:spPr>
        <p:txBody>
          <a:bodyPr wrap="square" rtlCol="0" anchor="t"/>
          <a:lstStyle/>
          <a:p>
            <a:pPr marL="0" indent="0">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Design a hash-chained custody log structure where each entry cryptographically references the previous one a tamper-evident, append-only log.</a:t>
            </a:r>
            <a:endParaRPr lang="en-US" sz="1500" dirty="0">
              <a:latin typeface="Times New Roman" panose="02020603050405020304" pitchFamily="18" charset="0"/>
              <a:cs typeface="Times New Roman" panose="02020603050405020304" pitchFamily="18" charset="0"/>
            </a:endParaRPr>
          </a:p>
        </p:txBody>
      </p:sp>
      <p:sp>
        <p:nvSpPr>
          <p:cNvPr id="17" name="Shape 4">
            <a:extLst>
              <a:ext uri="{FF2B5EF4-FFF2-40B4-BE49-F238E27FC236}">
                <a16:creationId xmlns:a16="http://schemas.microsoft.com/office/drawing/2014/main" id="{449EC5BA-5C44-8008-2FC0-5F477FB0314B}"/>
              </a:ext>
            </a:extLst>
          </p:cNvPr>
          <p:cNvSpPr/>
          <p:nvPr/>
        </p:nvSpPr>
        <p:spPr>
          <a:xfrm>
            <a:off x="822960" y="2496312"/>
            <a:ext cx="457200" cy="457200"/>
          </a:xfrm>
          <a:prstGeom prst="ellipse">
            <a:avLst/>
          </a:prstGeom>
          <a:solidFill>
            <a:srgbClr val="1F4E79"/>
          </a:solidFill>
          <a:ln/>
        </p:spPr>
        <p:txBody>
          <a:bodyPr/>
          <a:lstStyle/>
          <a:p>
            <a:endParaRPr lang="en-IN"/>
          </a:p>
        </p:txBody>
      </p:sp>
      <p:sp>
        <p:nvSpPr>
          <p:cNvPr id="19" name="Text 5">
            <a:extLst>
              <a:ext uri="{FF2B5EF4-FFF2-40B4-BE49-F238E27FC236}">
                <a16:creationId xmlns:a16="http://schemas.microsoft.com/office/drawing/2014/main" id="{A92193DE-8523-B283-7E40-F19C177A8563}"/>
              </a:ext>
            </a:extLst>
          </p:cNvPr>
          <p:cNvSpPr/>
          <p:nvPr/>
        </p:nvSpPr>
        <p:spPr>
          <a:xfrm>
            <a:off x="822960" y="249631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6">
            <a:extLst>
              <a:ext uri="{FF2B5EF4-FFF2-40B4-BE49-F238E27FC236}">
                <a16:creationId xmlns:a16="http://schemas.microsoft.com/office/drawing/2014/main" id="{996CBB01-576D-7672-90FE-49A877002A66}"/>
              </a:ext>
            </a:extLst>
          </p:cNvPr>
          <p:cNvSpPr/>
          <p:nvPr/>
        </p:nvSpPr>
        <p:spPr>
          <a:xfrm>
            <a:off x="1508760" y="2518978"/>
            <a:ext cx="9875520" cy="402971"/>
          </a:xfrm>
          <a:prstGeom prst="rect">
            <a:avLst/>
          </a:prstGeom>
          <a:noFill/>
          <a:ln/>
        </p:spPr>
        <p:txBody>
          <a:bodyPr wrap="square" rtlCol="0" anchor="t"/>
          <a:lstStyle/>
          <a:p>
            <a:pPr marL="0" indent="0">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Implement Merkle tree batching of evidence records to enable efficient integrity verification and inclusion proofs.</a:t>
            </a:r>
            <a:endParaRPr lang="en-US" sz="1500" dirty="0">
              <a:latin typeface="Times New Roman" panose="02020603050405020304" pitchFamily="18" charset="0"/>
              <a:cs typeface="Times New Roman" panose="02020603050405020304" pitchFamily="18" charset="0"/>
            </a:endParaRPr>
          </a:p>
        </p:txBody>
      </p:sp>
      <p:sp>
        <p:nvSpPr>
          <p:cNvPr id="23" name="Shape 7">
            <a:extLst>
              <a:ext uri="{FF2B5EF4-FFF2-40B4-BE49-F238E27FC236}">
                <a16:creationId xmlns:a16="http://schemas.microsoft.com/office/drawing/2014/main" id="{A73D2B96-5DF3-B175-07E5-83370E39BE56}"/>
              </a:ext>
            </a:extLst>
          </p:cNvPr>
          <p:cNvSpPr/>
          <p:nvPr/>
        </p:nvSpPr>
        <p:spPr>
          <a:xfrm>
            <a:off x="822960" y="3410712"/>
            <a:ext cx="457200" cy="457200"/>
          </a:xfrm>
          <a:prstGeom prst="ellipse">
            <a:avLst/>
          </a:prstGeom>
          <a:solidFill>
            <a:srgbClr val="1F4E79"/>
          </a:solidFill>
          <a:ln/>
        </p:spPr>
        <p:txBody>
          <a:bodyPr/>
          <a:lstStyle/>
          <a:p>
            <a:endParaRPr lang="en-IN"/>
          </a:p>
        </p:txBody>
      </p:sp>
      <p:sp>
        <p:nvSpPr>
          <p:cNvPr id="25" name="Text 8">
            <a:extLst>
              <a:ext uri="{FF2B5EF4-FFF2-40B4-BE49-F238E27FC236}">
                <a16:creationId xmlns:a16="http://schemas.microsoft.com/office/drawing/2014/main" id="{EBFFF2C4-F7B8-8167-4BB4-19468876A924}"/>
              </a:ext>
            </a:extLst>
          </p:cNvPr>
          <p:cNvSpPr/>
          <p:nvPr/>
        </p:nvSpPr>
        <p:spPr>
          <a:xfrm>
            <a:off x="822960" y="341071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7" name="Text 9">
            <a:extLst>
              <a:ext uri="{FF2B5EF4-FFF2-40B4-BE49-F238E27FC236}">
                <a16:creationId xmlns:a16="http://schemas.microsoft.com/office/drawing/2014/main" id="{5793A343-5D37-2BA5-3639-81177CF04455}"/>
              </a:ext>
            </a:extLst>
          </p:cNvPr>
          <p:cNvSpPr/>
          <p:nvPr/>
        </p:nvSpPr>
        <p:spPr>
          <a:xfrm>
            <a:off x="1458485" y="3487995"/>
            <a:ext cx="9875520" cy="348354"/>
          </a:xfrm>
          <a:prstGeom prst="rect">
            <a:avLst/>
          </a:prstGeom>
          <a:noFill/>
          <a:ln/>
        </p:spPr>
        <p:txBody>
          <a:bodyPr wrap="square" rtlCol="0" anchor="t"/>
          <a:lstStyle/>
          <a:p>
            <a:pPr marL="0" indent="0">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Integrate ECDSA digital signatures so each custody action is non-repudiably attributable to the investigator who performed it.</a:t>
            </a:r>
            <a:endParaRPr lang="en-US" sz="1500" dirty="0">
              <a:latin typeface="Times New Roman" panose="02020603050405020304" pitchFamily="18" charset="0"/>
              <a:cs typeface="Times New Roman" panose="02020603050405020304" pitchFamily="18" charset="0"/>
            </a:endParaRPr>
          </a:p>
        </p:txBody>
      </p:sp>
      <p:sp>
        <p:nvSpPr>
          <p:cNvPr id="29" name="Shape 10">
            <a:extLst>
              <a:ext uri="{FF2B5EF4-FFF2-40B4-BE49-F238E27FC236}">
                <a16:creationId xmlns:a16="http://schemas.microsoft.com/office/drawing/2014/main" id="{4D297282-3F5C-747C-C8CF-5185D60F14DF}"/>
              </a:ext>
            </a:extLst>
          </p:cNvPr>
          <p:cNvSpPr/>
          <p:nvPr/>
        </p:nvSpPr>
        <p:spPr>
          <a:xfrm>
            <a:off x="822960" y="4325112"/>
            <a:ext cx="457200" cy="457200"/>
          </a:xfrm>
          <a:prstGeom prst="ellipse">
            <a:avLst/>
          </a:prstGeom>
          <a:solidFill>
            <a:srgbClr val="1F4E79"/>
          </a:solidFill>
          <a:ln/>
        </p:spPr>
        <p:txBody>
          <a:bodyPr/>
          <a:lstStyle/>
          <a:p>
            <a:endParaRPr lang="en-IN"/>
          </a:p>
        </p:txBody>
      </p:sp>
      <p:sp>
        <p:nvSpPr>
          <p:cNvPr id="31" name="Text 11">
            <a:extLst>
              <a:ext uri="{FF2B5EF4-FFF2-40B4-BE49-F238E27FC236}">
                <a16:creationId xmlns:a16="http://schemas.microsoft.com/office/drawing/2014/main" id="{CA7F720D-752E-6B27-20EF-7DEE13662703}"/>
              </a:ext>
            </a:extLst>
          </p:cNvPr>
          <p:cNvSpPr/>
          <p:nvPr/>
        </p:nvSpPr>
        <p:spPr>
          <a:xfrm>
            <a:off x="822960" y="432511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3" name="Text 12">
            <a:extLst>
              <a:ext uri="{FF2B5EF4-FFF2-40B4-BE49-F238E27FC236}">
                <a16:creationId xmlns:a16="http://schemas.microsoft.com/office/drawing/2014/main" id="{37A32228-C803-0EC0-13DC-84D340EA6E7F}"/>
              </a:ext>
            </a:extLst>
          </p:cNvPr>
          <p:cNvSpPr/>
          <p:nvPr/>
        </p:nvSpPr>
        <p:spPr>
          <a:xfrm>
            <a:off x="1508760" y="4325112"/>
            <a:ext cx="9875520" cy="530352"/>
          </a:xfrm>
          <a:prstGeom prst="rect">
            <a:avLst/>
          </a:prstGeom>
          <a:noFill/>
          <a:ln/>
        </p:spPr>
        <p:txBody>
          <a:bodyPr wrap="square" rtlCol="0" anchor="t"/>
          <a:lstStyle/>
          <a:p>
            <a:pPr marL="0" indent="0">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Build a standalone Python CLI (argparse-based) for logging custody events, plus a separate verifier script to validate the entire chain independently.</a:t>
            </a:r>
            <a:endParaRPr lang="en-US" sz="1500" dirty="0">
              <a:latin typeface="Times New Roman" panose="02020603050405020304" pitchFamily="18" charset="0"/>
              <a:cs typeface="Times New Roman" panose="02020603050405020304" pitchFamily="18" charset="0"/>
            </a:endParaRPr>
          </a:p>
        </p:txBody>
      </p:sp>
      <p:sp>
        <p:nvSpPr>
          <p:cNvPr id="35" name="Shape 13">
            <a:extLst>
              <a:ext uri="{FF2B5EF4-FFF2-40B4-BE49-F238E27FC236}">
                <a16:creationId xmlns:a16="http://schemas.microsoft.com/office/drawing/2014/main" id="{19F3F40C-D426-0641-5460-026D123B9A0A}"/>
              </a:ext>
            </a:extLst>
          </p:cNvPr>
          <p:cNvSpPr/>
          <p:nvPr/>
        </p:nvSpPr>
        <p:spPr>
          <a:xfrm>
            <a:off x="822960" y="5239512"/>
            <a:ext cx="457200" cy="457200"/>
          </a:xfrm>
          <a:prstGeom prst="ellipse">
            <a:avLst/>
          </a:prstGeom>
          <a:solidFill>
            <a:srgbClr val="1F4E79"/>
          </a:solidFill>
          <a:ln/>
        </p:spPr>
        <p:txBody>
          <a:bodyPr/>
          <a:lstStyle/>
          <a:p>
            <a:endParaRPr lang="en-IN"/>
          </a:p>
        </p:txBody>
      </p:sp>
      <p:sp>
        <p:nvSpPr>
          <p:cNvPr id="37" name="Text 14">
            <a:extLst>
              <a:ext uri="{FF2B5EF4-FFF2-40B4-BE49-F238E27FC236}">
                <a16:creationId xmlns:a16="http://schemas.microsoft.com/office/drawing/2014/main" id="{0B56A5C8-2470-BC5E-9F03-59A23D2D5A8C}"/>
              </a:ext>
            </a:extLst>
          </p:cNvPr>
          <p:cNvSpPr/>
          <p:nvPr/>
        </p:nvSpPr>
        <p:spPr>
          <a:xfrm>
            <a:off x="822960" y="523951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9" name="Text 15">
            <a:extLst>
              <a:ext uri="{FF2B5EF4-FFF2-40B4-BE49-F238E27FC236}">
                <a16:creationId xmlns:a16="http://schemas.microsoft.com/office/drawing/2014/main" id="{2912A163-761E-87D4-C843-90EADAD8B8B6}"/>
              </a:ext>
            </a:extLst>
          </p:cNvPr>
          <p:cNvSpPr/>
          <p:nvPr/>
        </p:nvSpPr>
        <p:spPr>
          <a:xfrm>
            <a:off x="1458485" y="5340731"/>
            <a:ext cx="9875520" cy="348742"/>
          </a:xfrm>
          <a:prstGeom prst="rect">
            <a:avLst/>
          </a:prstGeom>
          <a:noFill/>
          <a:ln/>
        </p:spPr>
        <p:txBody>
          <a:bodyPr wrap="square" rtlCol="0" anchor="t"/>
          <a:lstStyle/>
          <a:p>
            <a:pPr marL="0" indent="0">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Evaluate the system against ISO/IEC 27037 and NIST SP 800-86 requirements for digital evidence handling.</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graphicFrame>
        <p:nvGraphicFramePr>
          <p:cNvPr id="12" name="Table 0">
            <a:extLst>
              <a:ext uri="{FF2B5EF4-FFF2-40B4-BE49-F238E27FC236}">
                <a16:creationId xmlns:a16="http://schemas.microsoft.com/office/drawing/2014/main" id="{3CAE88E2-71B7-BB6F-8F72-CAB501199150}"/>
              </a:ext>
            </a:extLst>
          </p:cNvPr>
          <p:cNvGraphicFramePr>
            <a:graphicFrameLocks noGrp="1"/>
          </p:cNvGraphicFramePr>
          <p:nvPr>
            <p:extLst>
              <p:ext uri="{D42A27DB-BD31-4B8C-83A1-F6EECF244321}">
                <p14:modId xmlns:p14="http://schemas.microsoft.com/office/powerpoint/2010/main" val="1361814786"/>
              </p:ext>
            </p:extLst>
          </p:nvPr>
        </p:nvGraphicFramePr>
        <p:xfrm>
          <a:off x="90238" y="1280161"/>
          <a:ext cx="11977436" cy="5104765"/>
        </p:xfrm>
        <a:graphic>
          <a:graphicData uri="http://schemas.openxmlformats.org/drawingml/2006/table">
            <a:tbl>
              <a:tblPr/>
              <a:tblGrid>
                <a:gridCol w="553451">
                  <a:extLst>
                    <a:ext uri="{9D8B030D-6E8A-4147-A177-3AD203B41FA5}">
                      <a16:colId xmlns:a16="http://schemas.microsoft.com/office/drawing/2014/main" val="20000"/>
                    </a:ext>
                  </a:extLst>
                </a:gridCol>
                <a:gridCol w="607595">
                  <a:extLst>
                    <a:ext uri="{9D8B030D-6E8A-4147-A177-3AD203B41FA5}">
                      <a16:colId xmlns:a16="http://schemas.microsoft.com/office/drawing/2014/main" val="20001"/>
                    </a:ext>
                  </a:extLst>
                </a:gridCol>
                <a:gridCol w="1179095">
                  <a:extLst>
                    <a:ext uri="{9D8B030D-6E8A-4147-A177-3AD203B41FA5}">
                      <a16:colId xmlns:a16="http://schemas.microsoft.com/office/drawing/2014/main" val="20002"/>
                    </a:ext>
                  </a:extLst>
                </a:gridCol>
                <a:gridCol w="1685062">
                  <a:extLst>
                    <a:ext uri="{9D8B030D-6E8A-4147-A177-3AD203B41FA5}">
                      <a16:colId xmlns:a16="http://schemas.microsoft.com/office/drawing/2014/main" val="20003"/>
                    </a:ext>
                  </a:extLst>
                </a:gridCol>
                <a:gridCol w="981757">
                  <a:extLst>
                    <a:ext uri="{9D8B030D-6E8A-4147-A177-3AD203B41FA5}">
                      <a16:colId xmlns:a16="http://schemas.microsoft.com/office/drawing/2014/main" val="20004"/>
                    </a:ext>
                  </a:extLst>
                </a:gridCol>
                <a:gridCol w="1178109">
                  <a:extLst>
                    <a:ext uri="{9D8B030D-6E8A-4147-A177-3AD203B41FA5}">
                      <a16:colId xmlns:a16="http://schemas.microsoft.com/office/drawing/2014/main" val="20005"/>
                    </a:ext>
                  </a:extLst>
                </a:gridCol>
                <a:gridCol w="1276284">
                  <a:extLst>
                    <a:ext uri="{9D8B030D-6E8A-4147-A177-3AD203B41FA5}">
                      <a16:colId xmlns:a16="http://schemas.microsoft.com/office/drawing/2014/main" val="20006"/>
                    </a:ext>
                  </a:extLst>
                </a:gridCol>
                <a:gridCol w="1159272">
                  <a:extLst>
                    <a:ext uri="{9D8B030D-6E8A-4147-A177-3AD203B41FA5}">
                      <a16:colId xmlns:a16="http://schemas.microsoft.com/office/drawing/2014/main" val="20007"/>
                    </a:ext>
                  </a:extLst>
                </a:gridCol>
                <a:gridCol w="1269332">
                  <a:extLst>
                    <a:ext uri="{9D8B030D-6E8A-4147-A177-3AD203B41FA5}">
                      <a16:colId xmlns:a16="http://schemas.microsoft.com/office/drawing/2014/main" val="20008"/>
                    </a:ext>
                  </a:extLst>
                </a:gridCol>
                <a:gridCol w="1203897">
                  <a:extLst>
                    <a:ext uri="{9D8B030D-6E8A-4147-A177-3AD203B41FA5}">
                      <a16:colId xmlns:a16="http://schemas.microsoft.com/office/drawing/2014/main" val="20009"/>
                    </a:ext>
                  </a:extLst>
                </a:gridCol>
                <a:gridCol w="883582">
                  <a:extLst>
                    <a:ext uri="{9D8B030D-6E8A-4147-A177-3AD203B41FA5}">
                      <a16:colId xmlns:a16="http://schemas.microsoft.com/office/drawing/2014/main" val="20010"/>
                    </a:ext>
                  </a:extLst>
                </a:gridCol>
              </a:tblGrid>
              <a:tr h="1013617">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SI</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No</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Year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Authors</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Title of the</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paper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Source</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Objective of</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the paper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Techniques</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Used</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Parameters</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Analysed</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Research</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Inference</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Research</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Gap</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DOI</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977377">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1</a:t>
                      </a: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2018</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Silvia Bonomi, Marco Casini, &amp; Claudio Ciccotelli</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B-CoC: A Blockchain-based Chain of Custody for Evidences Management in Digital Forensics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arXiv preprint</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Dematerialize manual CoC via blockchain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Private Ethereum, smart contracts (Geth, IBFT PoA)</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Transaction latency, storage growth</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Feasible; ~3GB/yr storage overhead at 1M evidences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Requires standing up and maintaining a private blockchain network — heavy for one lab</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just">
                        <a:lnSpc>
                          <a:spcPct val="105000"/>
                        </a:lnSpc>
                        <a:spcAft>
                          <a:spcPts val="500"/>
                        </a:spcAft>
                        <a:buNone/>
                      </a:pP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3"/>
                        </a:rPr>
                        <a:t>https://arxiv.org/abs/1807.10359</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038131">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2026</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Muhammet Anil Yagiz, Fahrettin Horasan, &amp; Ahmet Hasim Yurttakal</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Lightweight Tamper-Evident Log Integrity Verification for IoT Edge Environments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arXiv preprint</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Tamper-evident logs without a distributed ledger</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Merkle tree + adaptive chunking (SHA-256/BLAKE2b)</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Throughput, proof size, verification time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&gt;130,000 logs/sec; no consensus overhead needed</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Targets generic IoT logs, not forensic custody; no signer/actor attribution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just">
                        <a:lnSpc>
                          <a:spcPct val="105000"/>
                        </a:lnSpc>
                        <a:spcAft>
                          <a:spcPts val="500"/>
                        </a:spcAft>
                        <a:buNone/>
                      </a:pP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4"/>
                        </a:rPr>
                        <a:t>https://arxiv.org/abs/2605.00065</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977377">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3</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2009</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Scott A. Crosby, &amp; Dan S. Wallach</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Efficient Data Structures for Tamper-Evident Logging</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18th USENIX Security Symposium</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Foundational tamper-evident history-tree design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Merkle-tree-chained history tree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Verification complexity, O(log n) proofs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Theoretical basis for nearly all later Merkle-tree logging work</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Predates forensic custody application; no digital-signature/actor layer</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just">
                        <a:lnSpc>
                          <a:spcPct val="105000"/>
                        </a:lnSpc>
                        <a:spcAft>
                          <a:spcPts val="500"/>
                        </a:spcAft>
                        <a:buNone/>
                      </a:pP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5"/>
                        </a:rPr>
                        <a:t>https://www.researchgate.net/publication/221260542</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153534274"/>
                  </a:ext>
                </a:extLst>
              </a:tr>
              <a:tr h="1011870">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4</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2019</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Auqib Hamid Lone, &amp; Roohie Naaz Mir</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Forensic-chain: Blockchain based digital forensics chain of custody with PoC in Hyperledger Composer</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Digital Investigation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Blockchain-based CoC with working PoC</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Hyperledger Composer, hash pointers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Auditability, immutability of custody trail</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Demonstrates append-only audit trail via hash-pointer blocks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Requires Hyperledger network setup; not standalone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just">
                        <a:lnSpc>
                          <a:spcPct val="105000"/>
                        </a:lnSpc>
                        <a:spcAft>
                          <a:spcPts val="500"/>
                        </a:spcAft>
                      </a:pPr>
                      <a:r>
                        <a:rPr lang="en-IN" sz="1000" dirty="0">
                          <a:latin typeface="Times New Roman" panose="02020603050405020304" pitchFamily="18" charset="0"/>
                          <a:cs typeface="Times New Roman" panose="02020603050405020304" pitchFamily="18" charset="0"/>
                          <a:hlinkClick r:id="rId6"/>
                        </a:rPr>
                        <a:t>https://www.sciencedirect.com/science/article/abs/pii/S174228761830344X</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00778852"/>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6B44B0C-AC48-C4B1-1849-EB622422886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6828C58-8A75-7EE3-6356-66465C73F256}"/>
              </a:ext>
            </a:extLst>
          </p:cNvPr>
          <p:cNvSpPr>
            <a:spLocks noGrp="1"/>
          </p:cNvSpPr>
          <p:nvPr>
            <p:ph type="title"/>
          </p:nvPr>
        </p:nvSpPr>
        <p:spPr>
          <a:xfrm>
            <a:off x="1180618" y="359109"/>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11AD5395-EFB5-3384-DE65-A4599D0090DB}"/>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BAA0AFC4-3854-A95B-4B1E-302FA9F91569}"/>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E016077E-5375-20FC-37D8-7758FAF2405B}"/>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1C20EE4F-93A9-CF67-C95A-C92C63FF07FB}"/>
              </a:ext>
            </a:extLst>
          </p:cNvPr>
          <p:cNvSpPr>
            <a:spLocks noGrp="1"/>
          </p:cNvSpPr>
          <p:nvPr>
            <p:ph type="ftr" sz="quarter" idx="11"/>
          </p:nvPr>
        </p:nvSpPr>
        <p:spPr>
          <a:xfrm>
            <a:off x="4038600" y="6356350"/>
            <a:ext cx="4114800" cy="365125"/>
          </a:xfrm>
        </p:spPr>
        <p:txBody>
          <a:bodyPr/>
          <a:lstStyle/>
          <a:p>
            <a:r>
              <a:rPr lang="en-US" dirty="0"/>
              <a:t>PRC-I    </a:t>
            </a:r>
          </a:p>
        </p:txBody>
      </p:sp>
      <p:graphicFrame>
        <p:nvGraphicFramePr>
          <p:cNvPr id="12" name="Table 0">
            <a:extLst>
              <a:ext uri="{FF2B5EF4-FFF2-40B4-BE49-F238E27FC236}">
                <a16:creationId xmlns:a16="http://schemas.microsoft.com/office/drawing/2014/main" id="{13598F82-7645-6E14-7E69-A2FB26DA421B}"/>
              </a:ext>
            </a:extLst>
          </p:cNvPr>
          <p:cNvGraphicFramePr>
            <a:graphicFrameLocks noGrp="1"/>
          </p:cNvGraphicFramePr>
          <p:nvPr>
            <p:extLst>
              <p:ext uri="{D42A27DB-BD31-4B8C-83A1-F6EECF244321}">
                <p14:modId xmlns:p14="http://schemas.microsoft.com/office/powerpoint/2010/main" val="1714714903"/>
              </p:ext>
            </p:extLst>
          </p:nvPr>
        </p:nvGraphicFramePr>
        <p:xfrm>
          <a:off x="96253" y="1274145"/>
          <a:ext cx="11971421" cy="5117842"/>
        </p:xfrm>
        <a:graphic>
          <a:graphicData uri="http://schemas.openxmlformats.org/drawingml/2006/table">
            <a:tbl>
              <a:tblPr/>
              <a:tblGrid>
                <a:gridCol w="547436">
                  <a:extLst>
                    <a:ext uri="{9D8B030D-6E8A-4147-A177-3AD203B41FA5}">
                      <a16:colId xmlns:a16="http://schemas.microsoft.com/office/drawing/2014/main" val="20000"/>
                    </a:ext>
                  </a:extLst>
                </a:gridCol>
                <a:gridCol w="607595">
                  <a:extLst>
                    <a:ext uri="{9D8B030D-6E8A-4147-A177-3AD203B41FA5}">
                      <a16:colId xmlns:a16="http://schemas.microsoft.com/office/drawing/2014/main" val="20001"/>
                    </a:ext>
                  </a:extLst>
                </a:gridCol>
                <a:gridCol w="1179095">
                  <a:extLst>
                    <a:ext uri="{9D8B030D-6E8A-4147-A177-3AD203B41FA5}">
                      <a16:colId xmlns:a16="http://schemas.microsoft.com/office/drawing/2014/main" val="20002"/>
                    </a:ext>
                  </a:extLst>
                </a:gridCol>
                <a:gridCol w="1685062">
                  <a:extLst>
                    <a:ext uri="{9D8B030D-6E8A-4147-A177-3AD203B41FA5}">
                      <a16:colId xmlns:a16="http://schemas.microsoft.com/office/drawing/2014/main" val="20003"/>
                    </a:ext>
                  </a:extLst>
                </a:gridCol>
                <a:gridCol w="981757">
                  <a:extLst>
                    <a:ext uri="{9D8B030D-6E8A-4147-A177-3AD203B41FA5}">
                      <a16:colId xmlns:a16="http://schemas.microsoft.com/office/drawing/2014/main" val="20004"/>
                    </a:ext>
                  </a:extLst>
                </a:gridCol>
                <a:gridCol w="1178109">
                  <a:extLst>
                    <a:ext uri="{9D8B030D-6E8A-4147-A177-3AD203B41FA5}">
                      <a16:colId xmlns:a16="http://schemas.microsoft.com/office/drawing/2014/main" val="20005"/>
                    </a:ext>
                  </a:extLst>
                </a:gridCol>
                <a:gridCol w="1276284">
                  <a:extLst>
                    <a:ext uri="{9D8B030D-6E8A-4147-A177-3AD203B41FA5}">
                      <a16:colId xmlns:a16="http://schemas.microsoft.com/office/drawing/2014/main" val="20006"/>
                    </a:ext>
                  </a:extLst>
                </a:gridCol>
                <a:gridCol w="1159272">
                  <a:extLst>
                    <a:ext uri="{9D8B030D-6E8A-4147-A177-3AD203B41FA5}">
                      <a16:colId xmlns:a16="http://schemas.microsoft.com/office/drawing/2014/main" val="20007"/>
                    </a:ext>
                  </a:extLst>
                </a:gridCol>
                <a:gridCol w="1269332">
                  <a:extLst>
                    <a:ext uri="{9D8B030D-6E8A-4147-A177-3AD203B41FA5}">
                      <a16:colId xmlns:a16="http://schemas.microsoft.com/office/drawing/2014/main" val="20008"/>
                    </a:ext>
                  </a:extLst>
                </a:gridCol>
                <a:gridCol w="1203897">
                  <a:extLst>
                    <a:ext uri="{9D8B030D-6E8A-4147-A177-3AD203B41FA5}">
                      <a16:colId xmlns:a16="http://schemas.microsoft.com/office/drawing/2014/main" val="20009"/>
                    </a:ext>
                  </a:extLst>
                </a:gridCol>
                <a:gridCol w="883582">
                  <a:extLst>
                    <a:ext uri="{9D8B030D-6E8A-4147-A177-3AD203B41FA5}">
                      <a16:colId xmlns:a16="http://schemas.microsoft.com/office/drawing/2014/main" val="20010"/>
                    </a:ext>
                  </a:extLst>
                </a:gridCol>
              </a:tblGrid>
              <a:tr h="1116809">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SI</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No</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Year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Authors</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Title of the</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paper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Source</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Objective of</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the paper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Techniques</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Used</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Parameters</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Analysed</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Research</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Inference</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Research</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Gap</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DOI</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130510">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5</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2020</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Liza Ahmad, Salam Khanji, Farkhund Iqbal, &amp; Faouzi Kamoun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Blockchain-based Chain of Custody: Towards Real-Time Tamper-Proof Evidence Management</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ARES '20, ACM</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Blockchain CoC integrated with physical smart locks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Private Ethereum, smart locks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Access control, custody continuity</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Integrates digital CoC with physical evidence security</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Blockchain + physical hardware dependency adds deployment complexity</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0563C1"/>
                          </a:solidFill>
                          <a:latin typeface="Times New Roman" panose="02020603050405020304" pitchFamily="18" charset="0"/>
                          <a:cs typeface="Times New Roman" panose="02020603050405020304" pitchFamily="18" charset="0"/>
                        </a:rPr>
                        <a:t>https://dl.acm.org/doi/</a:t>
                      </a: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3"/>
                        </a:rPr>
                        <a:t>https://dl.acm.org/doi/10.1145/3407023.3409199</a:t>
                      </a:r>
                      <a:endParaRPr lang="en-US" sz="1000" dirty="0">
                        <a:latin typeface="Times New Roman" panose="02020603050405020304" pitchFamily="18" charset="0"/>
                        <a:cs typeface="Times New Roman" panose="02020603050405020304" pitchFamily="18" charset="0"/>
                      </a:endParaRPr>
                    </a:p>
                    <a:p>
                      <a:pPr marL="0" indent="0">
                        <a:buNone/>
                      </a:pP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143819">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6</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2024</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Harsh E. Patil, Ravshish Kaur Kohli, Sorabh Puri, &amp; Pooja Puri</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Potential Applicability of Blockchain Technology in the Maintenance of Chain of Custody in Forensic Casework</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Egyptian J. Forensic Sciences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Review blockchain's potential to replace manual logs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Review / conceptual analysis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Immutability, auditability arguments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Blockchain framed as solution to fragile, manual custody logs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Stays conceptual; no concrete lightweight technical design proposed</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just">
                        <a:lnSpc>
                          <a:spcPct val="105000"/>
                        </a:lnSpc>
                        <a:spcAft>
                          <a:spcPts val="500"/>
                        </a:spcAft>
                      </a:pPr>
                      <a:r>
                        <a:rPr lang="en-IN" sz="1000" dirty="0">
                          <a:latin typeface="Times New Roman" panose="02020603050405020304" pitchFamily="18" charset="0"/>
                          <a:cs typeface="Times New Roman" panose="02020603050405020304" pitchFamily="18" charset="0"/>
                          <a:hlinkClick r:id="rId4"/>
                        </a:rPr>
                        <a:t>https://link.springer.com/article/10.1186/s41935-023-00383-w</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45534">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7</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2019</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Haider M. Al-Khateeb, Gregory Epiphaniou, &amp; Herbert Daly</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Blockchain for Modern Digital Forensics: The Chain-of-Custody as a Distributed Ledger</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Book chapter / conference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Frame CoC as a distributed-ledger problem</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Permissioned blockchain design (conceptual)</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Auditability, controlled participation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Integrity framed as a verifiable, challengeable record</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No lightweight / non-distributed alternative discussed</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just">
                        <a:lnSpc>
                          <a:spcPct val="105000"/>
                        </a:lnSpc>
                        <a:spcAft>
                          <a:spcPts val="500"/>
                        </a:spcAft>
                        <a:buNone/>
                      </a:pP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5"/>
                        </a:rPr>
                        <a:t>https://www.researchgate.net/publication/332594361</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153534274"/>
                  </a:ext>
                </a:extLst>
              </a:tr>
              <a:tr h="845534">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8</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2022</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Febin Prakash, Harsh </a:t>
                      </a:r>
                      <a:r>
                        <a:rPr lang="en-US" sz="1000" dirty="0" err="1">
                          <a:solidFill>
                            <a:srgbClr val="000000"/>
                          </a:solidFill>
                          <a:latin typeface="Times New Roman" panose="02020603050405020304" pitchFamily="18" charset="0"/>
                          <a:cs typeface="Times New Roman" panose="02020603050405020304" pitchFamily="18" charset="0"/>
                        </a:rPr>
                        <a:t>Sadawarti</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Blockchain-Based Chain of Custody: A Secure Digital Evidence Framework for Digital Forensics Investigation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Intl. J. Applied Innovative Research</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Encrypted, integrity-checked evidence framework</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RC4 encryption, fuzzy hash segmentation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Confidentiality, tamper resistance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Combines encryption with fuzzy hashing for evidence protection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Focuses on encrypting data itself, less on custody-event chaining</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6"/>
                        </a:rPr>
                        <a:t>https://www.researchgate.net/publication/380909587</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00778852"/>
                  </a:ext>
                </a:extLst>
              </a:tr>
            </a:tbl>
          </a:graphicData>
        </a:graphic>
      </p:graphicFrame>
    </p:spTree>
    <p:extLst>
      <p:ext uri="{BB962C8B-B14F-4D97-AF65-F5344CB8AC3E}">
        <p14:creationId xmlns:p14="http://schemas.microsoft.com/office/powerpoint/2010/main" val="1570125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55C663-073A-A3F0-2DFF-49DF984FFCB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7E791D0-5246-DD96-E0CB-593F28418BA6}"/>
              </a:ext>
            </a:extLst>
          </p:cNvPr>
          <p:cNvSpPr>
            <a:spLocks noGrp="1"/>
          </p:cNvSpPr>
          <p:nvPr>
            <p:ph type="title"/>
          </p:nvPr>
        </p:nvSpPr>
        <p:spPr>
          <a:xfrm>
            <a:off x="1180618" y="359109"/>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4B48AB7A-A751-A721-5BF7-6AD691AAEAD1}"/>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91574B8E-2E8D-6018-9EA3-F3D0F60B2EC1}"/>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3D7E8333-38C6-BA14-365A-75C4F817021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A0871B5A-336F-A266-842A-C95EE6701B18}"/>
              </a:ext>
            </a:extLst>
          </p:cNvPr>
          <p:cNvSpPr>
            <a:spLocks noGrp="1"/>
          </p:cNvSpPr>
          <p:nvPr>
            <p:ph type="ftr" sz="quarter" idx="11"/>
          </p:nvPr>
        </p:nvSpPr>
        <p:spPr>
          <a:xfrm>
            <a:off x="4038600" y="6356350"/>
            <a:ext cx="4114800" cy="365125"/>
          </a:xfrm>
        </p:spPr>
        <p:txBody>
          <a:bodyPr/>
          <a:lstStyle/>
          <a:p>
            <a:r>
              <a:rPr lang="en-US" dirty="0"/>
              <a:t>PRC-I    </a:t>
            </a:r>
          </a:p>
        </p:txBody>
      </p:sp>
      <p:graphicFrame>
        <p:nvGraphicFramePr>
          <p:cNvPr id="12" name="Table 0">
            <a:extLst>
              <a:ext uri="{FF2B5EF4-FFF2-40B4-BE49-F238E27FC236}">
                <a16:creationId xmlns:a16="http://schemas.microsoft.com/office/drawing/2014/main" id="{40B58150-03CF-BF5C-4263-B3B1E1A7FBE8}"/>
              </a:ext>
            </a:extLst>
          </p:cNvPr>
          <p:cNvGraphicFramePr>
            <a:graphicFrameLocks noGrp="1"/>
          </p:cNvGraphicFramePr>
          <p:nvPr>
            <p:extLst>
              <p:ext uri="{D42A27DB-BD31-4B8C-83A1-F6EECF244321}">
                <p14:modId xmlns:p14="http://schemas.microsoft.com/office/powerpoint/2010/main" val="3731431711"/>
              </p:ext>
            </p:extLst>
          </p:nvPr>
        </p:nvGraphicFramePr>
        <p:xfrm>
          <a:off x="96253" y="1274144"/>
          <a:ext cx="11971421" cy="3677456"/>
        </p:xfrm>
        <a:graphic>
          <a:graphicData uri="http://schemas.openxmlformats.org/drawingml/2006/table">
            <a:tbl>
              <a:tblPr/>
              <a:tblGrid>
                <a:gridCol w="547436">
                  <a:extLst>
                    <a:ext uri="{9D8B030D-6E8A-4147-A177-3AD203B41FA5}">
                      <a16:colId xmlns:a16="http://schemas.microsoft.com/office/drawing/2014/main" val="20000"/>
                    </a:ext>
                  </a:extLst>
                </a:gridCol>
                <a:gridCol w="607595">
                  <a:extLst>
                    <a:ext uri="{9D8B030D-6E8A-4147-A177-3AD203B41FA5}">
                      <a16:colId xmlns:a16="http://schemas.microsoft.com/office/drawing/2014/main" val="20001"/>
                    </a:ext>
                  </a:extLst>
                </a:gridCol>
                <a:gridCol w="1179095">
                  <a:extLst>
                    <a:ext uri="{9D8B030D-6E8A-4147-A177-3AD203B41FA5}">
                      <a16:colId xmlns:a16="http://schemas.microsoft.com/office/drawing/2014/main" val="20002"/>
                    </a:ext>
                  </a:extLst>
                </a:gridCol>
                <a:gridCol w="1685062">
                  <a:extLst>
                    <a:ext uri="{9D8B030D-6E8A-4147-A177-3AD203B41FA5}">
                      <a16:colId xmlns:a16="http://schemas.microsoft.com/office/drawing/2014/main" val="20003"/>
                    </a:ext>
                  </a:extLst>
                </a:gridCol>
                <a:gridCol w="981757">
                  <a:extLst>
                    <a:ext uri="{9D8B030D-6E8A-4147-A177-3AD203B41FA5}">
                      <a16:colId xmlns:a16="http://schemas.microsoft.com/office/drawing/2014/main" val="20004"/>
                    </a:ext>
                  </a:extLst>
                </a:gridCol>
                <a:gridCol w="1178109">
                  <a:extLst>
                    <a:ext uri="{9D8B030D-6E8A-4147-A177-3AD203B41FA5}">
                      <a16:colId xmlns:a16="http://schemas.microsoft.com/office/drawing/2014/main" val="20005"/>
                    </a:ext>
                  </a:extLst>
                </a:gridCol>
                <a:gridCol w="1276284">
                  <a:extLst>
                    <a:ext uri="{9D8B030D-6E8A-4147-A177-3AD203B41FA5}">
                      <a16:colId xmlns:a16="http://schemas.microsoft.com/office/drawing/2014/main" val="20006"/>
                    </a:ext>
                  </a:extLst>
                </a:gridCol>
                <a:gridCol w="1159272">
                  <a:extLst>
                    <a:ext uri="{9D8B030D-6E8A-4147-A177-3AD203B41FA5}">
                      <a16:colId xmlns:a16="http://schemas.microsoft.com/office/drawing/2014/main" val="20007"/>
                    </a:ext>
                  </a:extLst>
                </a:gridCol>
                <a:gridCol w="1269332">
                  <a:extLst>
                    <a:ext uri="{9D8B030D-6E8A-4147-A177-3AD203B41FA5}">
                      <a16:colId xmlns:a16="http://schemas.microsoft.com/office/drawing/2014/main" val="20008"/>
                    </a:ext>
                  </a:extLst>
                </a:gridCol>
                <a:gridCol w="1203897">
                  <a:extLst>
                    <a:ext uri="{9D8B030D-6E8A-4147-A177-3AD203B41FA5}">
                      <a16:colId xmlns:a16="http://schemas.microsoft.com/office/drawing/2014/main" val="20009"/>
                    </a:ext>
                  </a:extLst>
                </a:gridCol>
                <a:gridCol w="883582">
                  <a:extLst>
                    <a:ext uri="{9D8B030D-6E8A-4147-A177-3AD203B41FA5}">
                      <a16:colId xmlns:a16="http://schemas.microsoft.com/office/drawing/2014/main" val="20010"/>
                    </a:ext>
                  </a:extLst>
                </a:gridCol>
              </a:tblGrid>
              <a:tr h="1144203">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SI</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No</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Year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Authors</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Title of the</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paper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Source</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Objective of</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the paper</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Techniques</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Used</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Parameters</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Analysed</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Research</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Inference</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Research</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Gap</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DOI</a:t>
                      </a:r>
                      <a:endParaRPr lang="en-US" sz="13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956511">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9</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2021</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Adir Miller, Avinash Singh</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Chain of Custody and Evidence Integrity Verification Using Smart Contracts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Proceedings of ICCWS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Smart-contract CoC with signed event logs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Ethereum smart contracts, MetaMask personal_sign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Replay resistance, event-log immutability</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Signed events give stronger integrity than hashing alone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Depends on blockchain event logs and wallet infrastructure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just">
                        <a:lnSpc>
                          <a:spcPct val="105000"/>
                        </a:lnSpc>
                        <a:spcAft>
                          <a:spcPts val="500"/>
                        </a:spcAft>
                      </a:pP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3"/>
                        </a:rPr>
                        <a:t>https://papers.academic-conferences.org/index.php/iccws/article/download/2025/1940/7598</a:t>
                      </a:r>
                      <a:endParaRPr lang="en-US" sz="1000" dirty="0">
                        <a:solidFill>
                          <a:srgbClr val="1A1A1A"/>
                        </a:solidFill>
                        <a:latin typeface="Times New Roman" panose="02020603050405020304" pitchFamily="18" charset="0"/>
                        <a:ea typeface="Calibri" pitchFamily="34" charset="-122"/>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171876">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10</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000000"/>
                          </a:solidFill>
                          <a:latin typeface="Times New Roman" panose="02020603050405020304" pitchFamily="18" charset="0"/>
                          <a:cs typeface="Times New Roman" panose="02020603050405020304" pitchFamily="18" charset="0"/>
                        </a:rPr>
                        <a:t>2023</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Sakshi, Aruna Malik, Ajay K. Sharma</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b="1" dirty="0">
                          <a:solidFill>
                            <a:srgbClr val="000000"/>
                          </a:solidFill>
                          <a:latin typeface="Times New Roman" panose="02020603050405020304" pitchFamily="18" charset="0"/>
                          <a:cs typeface="Times New Roman" panose="02020603050405020304" pitchFamily="18" charset="0"/>
                        </a:rPr>
                        <a:t>Blockchain-based Digital Chain of Custody Multimedia Evidence Preservation Framework for IoT</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J. King Saud Univ. – CIS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IoT multimedia evidence preservation via blockchain</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Block header (Merkle tree, prev-hash, timestamp)</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Evidence integrity for IoT sources</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Applies standard block-header pattern to IoT evidence</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000000"/>
                          </a:solidFill>
                          <a:latin typeface="Times New Roman" panose="02020603050405020304" pitchFamily="18" charset="0"/>
                          <a:cs typeface="Times New Roman" panose="02020603050405020304" pitchFamily="18" charset="0"/>
                        </a:rPr>
                        <a:t>Domain-specific to IoT; not general-purpose evidence custody</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000" dirty="0">
                          <a:solidFill>
                            <a:srgbClr val="1A1A1A"/>
                          </a:solidFill>
                          <a:latin typeface="Times New Roman" panose="02020603050405020304" pitchFamily="18" charset="0"/>
                          <a:ea typeface="Calibri" pitchFamily="34" charset="-122"/>
                          <a:cs typeface="Times New Roman" panose="02020603050405020304" pitchFamily="18" charset="0"/>
                          <a:hlinkClick r:id="rId4"/>
                        </a:rPr>
                        <a:t>https://www.sciencedirect.com/science/article/abs/pii/S2214212623001631</a:t>
                      </a:r>
                      <a:endParaRPr lang="en-US" sz="1000" dirty="0">
                        <a:latin typeface="Times New Roman" panose="02020603050405020304" pitchFamily="18" charset="0"/>
                        <a:cs typeface="Times New Roman" panose="02020603050405020304" pitchFamily="18" charset="0"/>
                      </a:endParaRPr>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09414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Research Gap Identification</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1A2691C9-D5FC-4B5D-BC2B-27DFE115B382}"/>
              </a:ext>
            </a:extLst>
          </p:cNvPr>
          <p:cNvSpPr>
            <a:spLocks noGrp="1"/>
          </p:cNvSpPr>
          <p:nvPr>
            <p:ph type="ftr" sz="quarter" idx="11"/>
          </p:nvPr>
        </p:nvSpPr>
        <p:spPr>
          <a:xfrm>
            <a:off x="4038600" y="6356350"/>
            <a:ext cx="4114800" cy="365125"/>
          </a:xfrm>
        </p:spPr>
        <p:txBody>
          <a:bodyPr/>
          <a:lstStyle/>
          <a:p>
            <a:r>
              <a:rPr lang="en-US" dirty="0"/>
              <a:t>PRC-I    </a:t>
            </a:r>
          </a:p>
        </p:txBody>
      </p:sp>
      <p:sp>
        <p:nvSpPr>
          <p:cNvPr id="15" name="Text 1">
            <a:extLst>
              <a:ext uri="{FF2B5EF4-FFF2-40B4-BE49-F238E27FC236}">
                <a16:creationId xmlns:a16="http://schemas.microsoft.com/office/drawing/2014/main" id="{CFFAD3D4-AF65-79BB-9BFF-41686293A089}"/>
              </a:ext>
            </a:extLst>
          </p:cNvPr>
          <p:cNvSpPr/>
          <p:nvPr/>
        </p:nvSpPr>
        <p:spPr>
          <a:xfrm>
            <a:off x="822960" y="1371600"/>
            <a:ext cx="10515600" cy="685800"/>
          </a:xfrm>
          <a:prstGeom prst="rect">
            <a:avLst/>
          </a:prstGeom>
          <a:noFill/>
          <a:ln/>
        </p:spPr>
        <p:txBody>
          <a:bodyPr wrap="square" rtlCol="0" anchor="t"/>
          <a:lstStyle/>
          <a:p>
            <a:pPr marL="0" indent="0">
              <a:lnSpc>
                <a:spcPct val="115000"/>
              </a:lnSpc>
              <a:buNone/>
            </a:pPr>
            <a:r>
              <a:rPr lang="en-US" sz="1500" b="1" dirty="0">
                <a:solidFill>
                  <a:srgbClr val="C00000"/>
                </a:solidFill>
                <a:latin typeface="Times New Roman" panose="02020603050405020304" pitchFamily="18" charset="0"/>
                <a:ea typeface="Calibri" pitchFamily="34" charset="-122"/>
                <a:cs typeface="Times New Roman" panose="02020603050405020304" pitchFamily="18" charset="0"/>
              </a:rPr>
              <a:t>Research gap identification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involves analyzing existing literature to identify limitations, unresolved issues, or areas that have not been adequately explored. The identified gap provides the basis for defining the research problem.</a:t>
            </a:r>
            <a:endParaRPr lang="en-US" sz="1500" dirty="0">
              <a:latin typeface="Times New Roman" panose="02020603050405020304" pitchFamily="18" charset="0"/>
              <a:cs typeface="Times New Roman" panose="02020603050405020304" pitchFamily="18" charset="0"/>
            </a:endParaRPr>
          </a:p>
        </p:txBody>
      </p:sp>
      <p:graphicFrame>
        <p:nvGraphicFramePr>
          <p:cNvPr id="17" name="Table 0">
            <a:extLst>
              <a:ext uri="{FF2B5EF4-FFF2-40B4-BE49-F238E27FC236}">
                <a16:creationId xmlns:a16="http://schemas.microsoft.com/office/drawing/2014/main" id="{59ECC98F-5B6B-7A8F-22BA-8CAEEDD77A3E}"/>
              </a:ext>
            </a:extLst>
          </p:cNvPr>
          <p:cNvGraphicFramePr>
            <a:graphicFrameLocks noGrp="1"/>
          </p:cNvGraphicFramePr>
          <p:nvPr>
            <p:extLst>
              <p:ext uri="{D42A27DB-BD31-4B8C-83A1-F6EECF244321}">
                <p14:modId xmlns:p14="http://schemas.microsoft.com/office/powerpoint/2010/main" val="3825864825"/>
              </p:ext>
            </p:extLst>
          </p:nvPr>
        </p:nvGraphicFramePr>
        <p:xfrm>
          <a:off x="457200" y="2194560"/>
          <a:ext cx="11247120" cy="3566160"/>
        </p:xfrm>
        <a:graphic>
          <a:graphicData uri="http://schemas.openxmlformats.org/drawingml/2006/table">
            <a:tbl>
              <a:tblPr/>
              <a:tblGrid>
                <a:gridCol w="27432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94360">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Paper</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Methodology</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Key Finding</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Gap Identified</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94360">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B-CoC (Bonomi et al.)</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Private Ethereum blockchain</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Feasible but has ongoing network/storage overhead</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Requires blockchain infrastructure impractical for single-lab use</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Lightweight Merkle Pipeline (Yağız et al.)</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Merkle tree + adaptive chunking</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Achieves blockchain-level tamper-evidence without a ledger</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Built for IoT logs, not forensic custody with signer attribution</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Efficient Tamper-Evident Logging (Crosby &amp; Wallach)</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Merkle-tree history tree</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Theoretical foundation for O(log n) verification</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No forensic custody or digital-signature layer</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Forensic-chain (Lone &amp; Mir)</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Hyperledger Composer</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Demonstrates append-only audit trail</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Requires distributed Hyperledger network</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94360">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CoC via Smart Contracts (Ahmad et al.)</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Ethereum smart contracts</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Signed events strengthen integrity over hashing alone</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latin typeface="Times New Roman" panose="02020603050405020304" pitchFamily="18" charset="0"/>
                          <a:cs typeface="Times New Roman" panose="02020603050405020304" pitchFamily="18" charset="0"/>
                        </a:rPr>
                        <a:t>Dependent on blockchain + wallet infrastructure</a:t>
                      </a:r>
                      <a:endParaRPr lang="en-US" sz="13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Shape 2">
            <a:extLst>
              <a:ext uri="{FF2B5EF4-FFF2-40B4-BE49-F238E27FC236}">
                <a16:creationId xmlns:a16="http://schemas.microsoft.com/office/drawing/2014/main" id="{B1036615-E394-2178-AD1F-B754EAF02F99}"/>
              </a:ext>
            </a:extLst>
          </p:cNvPr>
          <p:cNvSpPr/>
          <p:nvPr/>
        </p:nvSpPr>
        <p:spPr>
          <a:xfrm>
            <a:off x="457200" y="5897880"/>
            <a:ext cx="11247120" cy="502920"/>
          </a:xfrm>
          <a:prstGeom prst="roundRect">
            <a:avLst>
              <a:gd name="adj" fmla="val 10909"/>
            </a:avLst>
          </a:prstGeom>
          <a:solidFill>
            <a:srgbClr val="FFF3CD"/>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1" name="Text 3">
            <a:extLst>
              <a:ext uri="{FF2B5EF4-FFF2-40B4-BE49-F238E27FC236}">
                <a16:creationId xmlns:a16="http://schemas.microsoft.com/office/drawing/2014/main" id="{0C77E2AE-8147-FDE1-7CF6-F4081E94ADD0}"/>
              </a:ext>
            </a:extLst>
          </p:cNvPr>
          <p:cNvSpPr/>
          <p:nvPr/>
        </p:nvSpPr>
        <p:spPr>
          <a:xfrm>
            <a:off x="594360" y="5897880"/>
            <a:ext cx="10972800" cy="502920"/>
          </a:xfrm>
          <a:prstGeom prst="rect">
            <a:avLst/>
          </a:prstGeom>
          <a:noFill/>
          <a:ln/>
        </p:spPr>
        <p:txBody>
          <a:bodyPr wrap="square" rtlCol="0" anchor="ctr"/>
          <a:lstStyle/>
          <a:p>
            <a:pPr marL="0" indent="0">
              <a:buNone/>
            </a:pPr>
            <a:r>
              <a:rPr lang="en-US" sz="1300" b="1" dirty="0">
                <a:solidFill>
                  <a:srgbClr val="C00000"/>
                </a:solidFill>
                <a:latin typeface="Times New Roman" panose="02020603050405020304" pitchFamily="18" charset="0"/>
                <a:ea typeface="Calibri" pitchFamily="34" charset="-122"/>
                <a:cs typeface="Times New Roman" panose="02020603050405020304" pitchFamily="18" charset="0"/>
              </a:rPr>
              <a:t>Summary: </a:t>
            </a:r>
            <a:r>
              <a:rPr lang="en-US" sz="1300" dirty="0">
                <a:solidFill>
                  <a:srgbClr val="1A1A1A"/>
                </a:solidFill>
                <a:latin typeface="Times New Roman" panose="02020603050405020304" pitchFamily="18" charset="0"/>
                <a:ea typeface="Calibri" pitchFamily="34" charset="-122"/>
                <a:cs typeface="Times New Roman" panose="02020603050405020304" pitchFamily="18" charset="0"/>
              </a:rPr>
              <a:t>No existing system combines hash chaining + Merkle trees + ECDSA signatures in a standalone (non-blockchain) tool purpose-built for forensic evidence custody, aligned to ISO/IEC 27037 &amp; NIST SP 800-86.</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2340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Innovation, Creativity, and Novelty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444AC3EB-3F86-4AA5-854B-7AEEB8EE2B29}"/>
              </a:ext>
            </a:extLst>
          </p:cNvPr>
          <p:cNvSpPr>
            <a:spLocks noGrp="1"/>
          </p:cNvSpPr>
          <p:nvPr>
            <p:ph type="ftr" sz="quarter" idx="11"/>
          </p:nvPr>
        </p:nvSpPr>
        <p:spPr>
          <a:xfrm>
            <a:off x="4038600" y="6356350"/>
            <a:ext cx="4114800" cy="365125"/>
          </a:xfrm>
        </p:spPr>
        <p:txBody>
          <a:bodyPr/>
          <a:lstStyle/>
          <a:p>
            <a:r>
              <a:rPr lang="en-US" dirty="0"/>
              <a:t>PRC-I    </a:t>
            </a:r>
          </a:p>
        </p:txBody>
      </p:sp>
      <p:sp>
        <p:nvSpPr>
          <p:cNvPr id="6" name="Shape 1">
            <a:extLst>
              <a:ext uri="{FF2B5EF4-FFF2-40B4-BE49-F238E27FC236}">
                <a16:creationId xmlns:a16="http://schemas.microsoft.com/office/drawing/2014/main" id="{09102B5B-FD5B-6AFF-5C74-9AAF0BD8E97D}"/>
              </a:ext>
            </a:extLst>
          </p:cNvPr>
          <p:cNvSpPr/>
          <p:nvPr/>
        </p:nvSpPr>
        <p:spPr>
          <a:xfrm>
            <a:off x="822960" y="1737360"/>
            <a:ext cx="3261360" cy="4023360"/>
          </a:xfrm>
          <a:prstGeom prst="roundRect">
            <a:avLst>
              <a:gd name="adj" fmla="val 2243"/>
            </a:avLst>
          </a:prstGeom>
          <a:solidFill>
            <a:srgbClr val="F2F2F2"/>
          </a:solidFill>
          <a:ln w="19050">
            <a:solidFill>
              <a:srgbClr val="1F4E79"/>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2" name="Shape 2">
            <a:extLst>
              <a:ext uri="{FF2B5EF4-FFF2-40B4-BE49-F238E27FC236}">
                <a16:creationId xmlns:a16="http://schemas.microsoft.com/office/drawing/2014/main" id="{BC8E06EF-8E3C-A3E7-BD40-ED7F7F3D14FA}"/>
              </a:ext>
            </a:extLst>
          </p:cNvPr>
          <p:cNvSpPr/>
          <p:nvPr/>
        </p:nvSpPr>
        <p:spPr>
          <a:xfrm>
            <a:off x="822960" y="1737360"/>
            <a:ext cx="3261360" cy="640080"/>
          </a:xfrm>
          <a:prstGeom prst="roundRect">
            <a:avLst>
              <a:gd name="adj" fmla="val 11429"/>
            </a:avLst>
          </a:prstGeom>
          <a:solidFill>
            <a:srgbClr val="1F4E79"/>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3">
            <a:extLst>
              <a:ext uri="{FF2B5EF4-FFF2-40B4-BE49-F238E27FC236}">
                <a16:creationId xmlns:a16="http://schemas.microsoft.com/office/drawing/2014/main" id="{AA218F4C-9FE0-33FD-08B6-69B5DFEB463B}"/>
              </a:ext>
            </a:extLst>
          </p:cNvPr>
          <p:cNvSpPr/>
          <p:nvPr/>
        </p:nvSpPr>
        <p:spPr>
          <a:xfrm>
            <a:off x="822960" y="1737360"/>
            <a:ext cx="3261360" cy="64008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Georgia" pitchFamily="34" charset="-122"/>
                <a:cs typeface="Times New Roman" panose="02020603050405020304" pitchFamily="18" charset="0"/>
              </a:rPr>
              <a:t>Innovation</a:t>
            </a:r>
            <a:endParaRPr lang="en-US" sz="1800" dirty="0">
              <a:latin typeface="Times New Roman" panose="02020603050405020304" pitchFamily="18" charset="0"/>
              <a:cs typeface="Times New Roman" panose="02020603050405020304" pitchFamily="18" charset="0"/>
            </a:endParaRPr>
          </a:p>
        </p:txBody>
      </p:sp>
      <p:sp>
        <p:nvSpPr>
          <p:cNvPr id="16" name="Text 4">
            <a:extLst>
              <a:ext uri="{FF2B5EF4-FFF2-40B4-BE49-F238E27FC236}">
                <a16:creationId xmlns:a16="http://schemas.microsoft.com/office/drawing/2014/main" id="{08A8B98A-75D2-D251-B76F-065057C9A437}"/>
              </a:ext>
            </a:extLst>
          </p:cNvPr>
          <p:cNvSpPr/>
          <p:nvPr/>
        </p:nvSpPr>
        <p:spPr>
          <a:xfrm>
            <a:off x="1051560" y="2560320"/>
            <a:ext cx="2804160" cy="3017520"/>
          </a:xfrm>
          <a:prstGeom prst="rect">
            <a:avLst/>
          </a:prstGeom>
          <a:noFill/>
          <a:ln/>
        </p:spPr>
        <p:txBody>
          <a:bodyPr wrap="square" rtlCol="0" anchor="t"/>
          <a:lstStyle/>
          <a:p>
            <a:pPr marL="0" indent="0">
              <a:lnSpc>
                <a:spcPct val="120000"/>
              </a:lnSpc>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Applies blockchain-inspired cryptographic primitives to evidence custody without adopting blockchain's consensus/network overhead a deliberately lightweight design.</a:t>
            </a:r>
            <a:endParaRPr lang="en-US" sz="1500" dirty="0">
              <a:latin typeface="Times New Roman" panose="02020603050405020304" pitchFamily="18" charset="0"/>
              <a:cs typeface="Times New Roman" panose="02020603050405020304" pitchFamily="18" charset="0"/>
            </a:endParaRPr>
          </a:p>
        </p:txBody>
      </p:sp>
      <p:sp>
        <p:nvSpPr>
          <p:cNvPr id="18" name="Shape 5">
            <a:extLst>
              <a:ext uri="{FF2B5EF4-FFF2-40B4-BE49-F238E27FC236}">
                <a16:creationId xmlns:a16="http://schemas.microsoft.com/office/drawing/2014/main" id="{6F6807D4-76EF-C2D8-AE0F-047543F7403B}"/>
              </a:ext>
            </a:extLst>
          </p:cNvPr>
          <p:cNvSpPr/>
          <p:nvPr/>
        </p:nvSpPr>
        <p:spPr>
          <a:xfrm>
            <a:off x="4450080" y="1737360"/>
            <a:ext cx="3261360" cy="4023360"/>
          </a:xfrm>
          <a:prstGeom prst="roundRect">
            <a:avLst>
              <a:gd name="adj" fmla="val 2243"/>
            </a:avLst>
          </a:prstGeom>
          <a:solidFill>
            <a:srgbClr val="F2F2F2"/>
          </a:solidFill>
          <a:ln w="19050">
            <a:solidFill>
              <a:srgbClr val="2E7D32"/>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0" name="Shape 6">
            <a:extLst>
              <a:ext uri="{FF2B5EF4-FFF2-40B4-BE49-F238E27FC236}">
                <a16:creationId xmlns:a16="http://schemas.microsoft.com/office/drawing/2014/main" id="{19083C33-96F4-A3E7-2898-DB48588B09D3}"/>
              </a:ext>
            </a:extLst>
          </p:cNvPr>
          <p:cNvSpPr/>
          <p:nvPr/>
        </p:nvSpPr>
        <p:spPr>
          <a:xfrm>
            <a:off x="4450080" y="1737360"/>
            <a:ext cx="3261360" cy="640080"/>
          </a:xfrm>
          <a:prstGeom prst="roundRect">
            <a:avLst>
              <a:gd name="adj" fmla="val 11429"/>
            </a:avLst>
          </a:prstGeom>
          <a:solidFill>
            <a:srgbClr val="2E7D32"/>
          </a:solidFill>
          <a:ln/>
        </p:spPr>
        <p:txBody>
          <a:bodyPr/>
          <a:lstStyle/>
          <a:p>
            <a:endParaRPr lang="en-IN">
              <a:latin typeface="Times New Roman" panose="02020603050405020304" pitchFamily="18" charset="0"/>
              <a:cs typeface="Times New Roman" panose="02020603050405020304" pitchFamily="18" charset="0"/>
            </a:endParaRPr>
          </a:p>
        </p:txBody>
      </p:sp>
      <p:sp>
        <p:nvSpPr>
          <p:cNvPr id="22" name="Text 7">
            <a:extLst>
              <a:ext uri="{FF2B5EF4-FFF2-40B4-BE49-F238E27FC236}">
                <a16:creationId xmlns:a16="http://schemas.microsoft.com/office/drawing/2014/main" id="{AF131413-3932-EEC0-D1B4-FCF643D3C86A}"/>
              </a:ext>
            </a:extLst>
          </p:cNvPr>
          <p:cNvSpPr/>
          <p:nvPr/>
        </p:nvSpPr>
        <p:spPr>
          <a:xfrm>
            <a:off x="4450080" y="1737360"/>
            <a:ext cx="3261360" cy="64008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Georgia" pitchFamily="34" charset="-122"/>
                <a:cs typeface="Times New Roman" panose="02020603050405020304" pitchFamily="18" charset="0"/>
              </a:rPr>
              <a:t>Creativity</a:t>
            </a:r>
            <a:endParaRPr lang="en-US" sz="1800" dirty="0">
              <a:latin typeface="Times New Roman" panose="02020603050405020304" pitchFamily="18" charset="0"/>
              <a:cs typeface="Times New Roman" panose="02020603050405020304" pitchFamily="18" charset="0"/>
            </a:endParaRPr>
          </a:p>
        </p:txBody>
      </p:sp>
      <p:sp>
        <p:nvSpPr>
          <p:cNvPr id="24" name="Text 8">
            <a:extLst>
              <a:ext uri="{FF2B5EF4-FFF2-40B4-BE49-F238E27FC236}">
                <a16:creationId xmlns:a16="http://schemas.microsoft.com/office/drawing/2014/main" id="{2046E268-4CBB-8341-63F0-04D167FB18B7}"/>
              </a:ext>
            </a:extLst>
          </p:cNvPr>
          <p:cNvSpPr/>
          <p:nvPr/>
        </p:nvSpPr>
        <p:spPr>
          <a:xfrm>
            <a:off x="4678680" y="2560320"/>
            <a:ext cx="2804160" cy="3017520"/>
          </a:xfrm>
          <a:prstGeom prst="rect">
            <a:avLst/>
          </a:prstGeom>
          <a:noFill/>
          <a:ln/>
        </p:spPr>
        <p:txBody>
          <a:bodyPr wrap="square" rtlCol="0" anchor="t"/>
          <a:lstStyle/>
          <a:p>
            <a:pPr marL="0" indent="0">
              <a:lnSpc>
                <a:spcPct val="120000"/>
              </a:lnSpc>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Combines three techniques hash chain + Merkle tree + ECDSA into one cohesive custody-log architecture with a practical CLI workflow.</a:t>
            </a:r>
            <a:endParaRPr lang="en-US" sz="1500" dirty="0">
              <a:latin typeface="Times New Roman" panose="02020603050405020304" pitchFamily="18" charset="0"/>
              <a:cs typeface="Times New Roman" panose="02020603050405020304" pitchFamily="18" charset="0"/>
            </a:endParaRPr>
          </a:p>
        </p:txBody>
      </p:sp>
      <p:sp>
        <p:nvSpPr>
          <p:cNvPr id="26" name="Shape 9">
            <a:extLst>
              <a:ext uri="{FF2B5EF4-FFF2-40B4-BE49-F238E27FC236}">
                <a16:creationId xmlns:a16="http://schemas.microsoft.com/office/drawing/2014/main" id="{C1A2AEC4-910B-79FE-1F22-41A47D3B9A46}"/>
              </a:ext>
            </a:extLst>
          </p:cNvPr>
          <p:cNvSpPr/>
          <p:nvPr/>
        </p:nvSpPr>
        <p:spPr>
          <a:xfrm>
            <a:off x="8077200" y="1737360"/>
            <a:ext cx="3261360" cy="4023360"/>
          </a:xfrm>
          <a:prstGeom prst="roundRect">
            <a:avLst>
              <a:gd name="adj" fmla="val 2243"/>
            </a:avLst>
          </a:prstGeom>
          <a:solidFill>
            <a:srgbClr val="F2F2F2"/>
          </a:solidFill>
          <a:ln w="19050">
            <a:solidFill>
              <a:srgbClr val="C0000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28" name="Shape 10">
            <a:extLst>
              <a:ext uri="{FF2B5EF4-FFF2-40B4-BE49-F238E27FC236}">
                <a16:creationId xmlns:a16="http://schemas.microsoft.com/office/drawing/2014/main" id="{33B90382-4DD0-9311-14E3-C85E4D9BBA85}"/>
              </a:ext>
            </a:extLst>
          </p:cNvPr>
          <p:cNvSpPr/>
          <p:nvPr/>
        </p:nvSpPr>
        <p:spPr>
          <a:xfrm>
            <a:off x="8092440" y="1737360"/>
            <a:ext cx="3261360" cy="640080"/>
          </a:xfrm>
          <a:prstGeom prst="roundRect">
            <a:avLst>
              <a:gd name="adj" fmla="val 11429"/>
            </a:avLst>
          </a:prstGeom>
          <a:solidFill>
            <a:srgbClr val="C0000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0" name="Text 11">
            <a:extLst>
              <a:ext uri="{FF2B5EF4-FFF2-40B4-BE49-F238E27FC236}">
                <a16:creationId xmlns:a16="http://schemas.microsoft.com/office/drawing/2014/main" id="{24349333-56E6-7A66-B342-D9EDDC9323CA}"/>
              </a:ext>
            </a:extLst>
          </p:cNvPr>
          <p:cNvSpPr/>
          <p:nvPr/>
        </p:nvSpPr>
        <p:spPr>
          <a:xfrm>
            <a:off x="8077200" y="1737360"/>
            <a:ext cx="3261360" cy="640080"/>
          </a:xfrm>
          <a:prstGeom prst="rect">
            <a:avLst/>
          </a:prstGeom>
          <a:noFill/>
          <a:ln/>
        </p:spPr>
        <p:txBody>
          <a:bodyPr wrap="square" rtlCol="0" anchor="ctr"/>
          <a:lstStyle/>
          <a:p>
            <a:pPr marL="0" indent="0" algn="ctr">
              <a:buNone/>
            </a:pPr>
            <a:r>
              <a:rPr lang="en-US" sz="1800" b="1" dirty="0">
                <a:solidFill>
                  <a:srgbClr val="FFFFFF"/>
                </a:solidFill>
                <a:latin typeface="Times New Roman" panose="02020603050405020304" pitchFamily="18" charset="0"/>
                <a:ea typeface="Georgia" pitchFamily="34" charset="-122"/>
                <a:cs typeface="Times New Roman" panose="02020603050405020304" pitchFamily="18" charset="0"/>
              </a:rPr>
              <a:t>Novelty</a:t>
            </a:r>
            <a:endParaRPr lang="en-US" sz="1800" dirty="0">
              <a:latin typeface="Times New Roman" panose="02020603050405020304" pitchFamily="18" charset="0"/>
              <a:cs typeface="Times New Roman" panose="02020603050405020304" pitchFamily="18" charset="0"/>
            </a:endParaRPr>
          </a:p>
        </p:txBody>
      </p:sp>
      <p:sp>
        <p:nvSpPr>
          <p:cNvPr id="32" name="Text 12">
            <a:extLst>
              <a:ext uri="{FF2B5EF4-FFF2-40B4-BE49-F238E27FC236}">
                <a16:creationId xmlns:a16="http://schemas.microsoft.com/office/drawing/2014/main" id="{8E86BBCE-B12F-2DF9-1CC3-08692225D888}"/>
              </a:ext>
            </a:extLst>
          </p:cNvPr>
          <p:cNvSpPr/>
          <p:nvPr/>
        </p:nvSpPr>
        <p:spPr>
          <a:xfrm>
            <a:off x="8305800" y="2560320"/>
            <a:ext cx="2804160" cy="3017520"/>
          </a:xfrm>
          <a:prstGeom prst="rect">
            <a:avLst/>
          </a:prstGeom>
          <a:noFill/>
          <a:ln/>
        </p:spPr>
        <p:txBody>
          <a:bodyPr wrap="square" rtlCol="0" anchor="t"/>
          <a:lstStyle/>
          <a:p>
            <a:pPr marL="0" indent="0">
              <a:lnSpc>
                <a:spcPct val="120000"/>
              </a:lnSpc>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Directly targets the identified gap: no reliance on distributed consensus or public blockchain infrastructure, while matching blockchain-level tamper-evidence guarantees.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004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Feasibility and Project Plan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85505740-31D0-4B8F-B93F-9E8CA50A42B9}"/>
              </a:ext>
            </a:extLst>
          </p:cNvPr>
          <p:cNvSpPr>
            <a:spLocks noGrp="1"/>
          </p:cNvSpPr>
          <p:nvPr>
            <p:ph type="ftr" sz="quarter" idx="11"/>
          </p:nvPr>
        </p:nvSpPr>
        <p:spPr>
          <a:xfrm>
            <a:off x="4038600" y="6356350"/>
            <a:ext cx="4114800" cy="365125"/>
          </a:xfrm>
        </p:spPr>
        <p:txBody>
          <a:bodyPr/>
          <a:lstStyle/>
          <a:p>
            <a:r>
              <a:rPr lang="en-US" dirty="0"/>
              <a:t>PRC-I    </a:t>
            </a:r>
          </a:p>
        </p:txBody>
      </p:sp>
      <p:sp>
        <p:nvSpPr>
          <p:cNvPr id="6" name="Text 1">
            <a:extLst>
              <a:ext uri="{FF2B5EF4-FFF2-40B4-BE49-F238E27FC236}">
                <a16:creationId xmlns:a16="http://schemas.microsoft.com/office/drawing/2014/main" id="{F4A30F68-D36E-63F8-2CC9-55F66A6A9C29}"/>
              </a:ext>
            </a:extLst>
          </p:cNvPr>
          <p:cNvSpPr/>
          <p:nvPr/>
        </p:nvSpPr>
        <p:spPr>
          <a:xfrm>
            <a:off x="822960" y="1371600"/>
            <a:ext cx="10515600" cy="685800"/>
          </a:xfrm>
          <a:prstGeom prst="rect">
            <a:avLst/>
          </a:prstGeom>
          <a:noFill/>
          <a:ln/>
        </p:spPr>
        <p:txBody>
          <a:bodyPr wrap="square" rtlCol="0" anchor="t"/>
          <a:lstStyle/>
          <a:p>
            <a:pPr marL="0" indent="0">
              <a:lnSpc>
                <a:spcPct val="115000"/>
              </a:lnSpc>
              <a:buNone/>
            </a:pPr>
            <a:r>
              <a:rPr lang="en-US" b="1" dirty="0">
                <a:solidFill>
                  <a:srgbClr val="1F4E79"/>
                </a:solidFill>
                <a:latin typeface="Times New Roman" panose="02020603050405020304" pitchFamily="18" charset="0"/>
                <a:ea typeface="Calibri" pitchFamily="34" charset="-122"/>
                <a:cs typeface="Times New Roman" panose="02020603050405020304" pitchFamily="18" charset="0"/>
              </a:rPr>
              <a:t>Feasibility: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All required tools are free/open-source (Python, hashlib, python-ecdsa, argparse). No external dataset dependency — evidence files can be simulated. No blockchain infrastructure required.</a:t>
            </a:r>
            <a:endParaRPr lang="en-US" sz="1500" dirty="0">
              <a:latin typeface="Times New Roman" panose="02020603050405020304" pitchFamily="18" charset="0"/>
              <a:cs typeface="Times New Roman" panose="02020603050405020304" pitchFamily="18" charset="0"/>
            </a:endParaRPr>
          </a:p>
        </p:txBody>
      </p:sp>
      <p:graphicFrame>
        <p:nvGraphicFramePr>
          <p:cNvPr id="12" name="Table 0">
            <a:extLst>
              <a:ext uri="{FF2B5EF4-FFF2-40B4-BE49-F238E27FC236}">
                <a16:creationId xmlns:a16="http://schemas.microsoft.com/office/drawing/2014/main" id="{FF443D47-FE7D-D407-CB9B-87344D384353}"/>
              </a:ext>
            </a:extLst>
          </p:cNvPr>
          <p:cNvGraphicFramePr>
            <a:graphicFrameLocks noGrp="1"/>
          </p:cNvGraphicFramePr>
          <p:nvPr>
            <p:extLst>
              <p:ext uri="{D42A27DB-BD31-4B8C-83A1-F6EECF244321}">
                <p14:modId xmlns:p14="http://schemas.microsoft.com/office/powerpoint/2010/main" val="3313817847"/>
              </p:ext>
            </p:extLst>
          </p:nvPr>
        </p:nvGraphicFramePr>
        <p:xfrm>
          <a:off x="307005" y="2240280"/>
          <a:ext cx="11577989" cy="3931921"/>
        </p:xfrm>
        <a:graphic>
          <a:graphicData uri="http://schemas.openxmlformats.org/drawingml/2006/table">
            <a:tbl>
              <a:tblPr/>
              <a:tblGrid>
                <a:gridCol w="97094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561703">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Week</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Focus</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Learning</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Build</a:t>
                      </a:r>
                      <a:endParaRPr lang="en-US" sz="18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1703">
                <a:tc>
                  <a:txBody>
                    <a:bodyPr/>
                    <a:lstStyle/>
                    <a:p>
                      <a:pPr marL="0" indent="0" algn="ctr">
                        <a:buNone/>
                      </a:pPr>
                      <a:r>
                        <a:rPr lang="en-US" sz="1500" b="1" dirty="0">
                          <a:solidFill>
                            <a:srgbClr val="000000"/>
                          </a:solidFill>
                          <a:latin typeface="Times New Roman" panose="02020603050405020304" pitchFamily="18" charset="0"/>
                          <a:cs typeface="Times New Roman" panose="02020603050405020304" pitchFamily="18" charset="0"/>
                        </a:rPr>
                        <a:t>1</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Foundations</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SHA-256 internals; review Crosby &amp; Wallach tamper-evident logging design</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Design custody log schema (evidence ID, actor, action, timestamp, prev-hash)</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1703">
                <a:tc>
                  <a:txBody>
                    <a:bodyPr/>
                    <a:lstStyle/>
                    <a:p>
                      <a:pPr marL="0" indent="0" algn="ctr">
                        <a:buNone/>
                      </a:pPr>
                      <a:r>
                        <a:rPr lang="en-US" sz="1500" b="1" dirty="0">
                          <a:solidFill>
                            <a:srgbClr val="000000"/>
                          </a:solidFill>
                          <a:latin typeface="Times New Roman" panose="02020603050405020304" pitchFamily="18" charset="0"/>
                          <a:cs typeface="Times New Roman" panose="02020603050405020304" pitchFamily="18" charset="0"/>
                        </a:rPr>
                        <a:t>2</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Hash chaining</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Practice append-only log + chain-verification scripts</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Implement hash_chain.py</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1703">
                <a:tc>
                  <a:txBody>
                    <a:bodyPr/>
                    <a:lstStyle/>
                    <a:p>
                      <a:pPr marL="0" indent="0" algn="ctr">
                        <a:buNone/>
                      </a:pPr>
                      <a:r>
                        <a:rPr lang="en-US" sz="1500" b="1" dirty="0">
                          <a:solidFill>
                            <a:srgbClr val="000000"/>
                          </a:solidFill>
                          <a:latin typeface="Times New Roman" panose="02020603050405020304" pitchFamily="18" charset="0"/>
                          <a:cs typeface="Times New Roman" panose="02020603050405020304" pitchFamily="18" charset="0"/>
                        </a:rPr>
                        <a:t>3</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Merkle trees</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Study Merkle tree construction &amp; inclusion proofs (Yağız et al. pipeline)</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Implement merkle_tree.py</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1703">
                <a:tc>
                  <a:txBody>
                    <a:bodyPr/>
                    <a:lstStyle/>
                    <a:p>
                      <a:pPr marL="0" indent="0" algn="ctr">
                        <a:buNone/>
                      </a:pPr>
                      <a:r>
                        <a:rPr lang="en-US" sz="1500" b="1" dirty="0">
                          <a:solidFill>
                            <a:srgbClr val="000000"/>
                          </a:solidFill>
                          <a:latin typeface="Times New Roman" panose="02020603050405020304" pitchFamily="18" charset="0"/>
                          <a:cs typeface="Times New Roman" panose="02020603050405020304" pitchFamily="18" charset="0"/>
                        </a:rPr>
                        <a:t>4</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ECDSA signing</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Work through python-ecdsa documentation</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Implement ecdsa_signer.py</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61703">
                <a:tc>
                  <a:txBody>
                    <a:bodyPr/>
                    <a:lstStyle/>
                    <a:p>
                      <a:pPr marL="0" indent="0" algn="ctr">
                        <a:buNone/>
                      </a:pPr>
                      <a:r>
                        <a:rPr lang="en-US" sz="1500" b="1" dirty="0">
                          <a:solidFill>
                            <a:srgbClr val="000000"/>
                          </a:solidFill>
                          <a:latin typeface="Times New Roman" panose="02020603050405020304" pitchFamily="18" charset="0"/>
                          <a:cs typeface="Times New Roman" panose="02020603050405020304" pitchFamily="18" charset="0"/>
                        </a:rPr>
                        <a:t>5</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CLI integration</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Review argparse subcommand patterns</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Build cli.py (log-event, verify-chain, export-proof)</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61703">
                <a:tc>
                  <a:txBody>
                    <a:bodyPr/>
                    <a:lstStyle/>
                    <a:p>
                      <a:pPr marL="0" indent="0" algn="ctr">
                        <a:buNone/>
                      </a:pPr>
                      <a:r>
                        <a:rPr lang="en-US" sz="1500" b="1" dirty="0">
                          <a:solidFill>
                            <a:srgbClr val="000000"/>
                          </a:solidFill>
                          <a:latin typeface="Times New Roman" panose="02020603050405020304" pitchFamily="18" charset="0"/>
                          <a:cs typeface="Times New Roman" panose="02020603050405020304" pitchFamily="18" charset="0"/>
                        </a:rPr>
                        <a:t>6</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Verifier + testing</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500" dirty="0">
                          <a:solidFill>
                            <a:srgbClr val="000000"/>
                          </a:solidFill>
                          <a:latin typeface="Times New Roman" panose="02020603050405020304" pitchFamily="18" charset="0"/>
                          <a:cs typeface="Times New Roman" panose="02020603050405020304" pitchFamily="18" charset="0"/>
                        </a:rPr>
                        <a:t>Build verifier.py; test tampering scenarios; prep PRC-II demo</a:t>
                      </a:r>
                      <a:endParaRPr lang="en-US" sz="1500" dirty="0">
                        <a:latin typeface="Times New Roman" panose="02020603050405020304" pitchFamily="18" charset="0"/>
                        <a:cs typeface="Times New Roman" panose="02020603050405020304" pitchFamily="18"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9363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31941C-C503-4469-8755-454FE6062E3B}"/>
              </a:ext>
            </a:extLst>
          </p:cNvPr>
          <p:cNvSpPr>
            <a:spLocks noGrp="1"/>
          </p:cNvSpPr>
          <p:nvPr>
            <p:ph type="ftr" sz="quarter" idx="11"/>
          </p:nvPr>
        </p:nvSpPr>
        <p:spPr>
          <a:xfrm>
            <a:off x="4038600" y="6356350"/>
            <a:ext cx="4114800" cy="365125"/>
          </a:xfrm>
        </p:spPr>
        <p:txBody>
          <a:bodyPr/>
          <a:lstStyle/>
          <a:p>
            <a:r>
              <a:rPr lang="en-US" dirty="0"/>
              <a:t>PRC-I    </a:t>
            </a:r>
          </a:p>
        </p:txBody>
      </p:sp>
      <p:sp>
        <p:nvSpPr>
          <p:cNvPr id="10" name="Text 1">
            <a:extLst>
              <a:ext uri="{FF2B5EF4-FFF2-40B4-BE49-F238E27FC236}">
                <a16:creationId xmlns:a16="http://schemas.microsoft.com/office/drawing/2014/main" id="{BC667716-3CC9-2257-968D-B375EFF2B539}"/>
              </a:ext>
            </a:extLst>
          </p:cNvPr>
          <p:cNvSpPr/>
          <p:nvPr/>
        </p:nvSpPr>
        <p:spPr>
          <a:xfrm>
            <a:off x="822960" y="1554480"/>
            <a:ext cx="5029200" cy="365760"/>
          </a:xfrm>
          <a:prstGeom prst="rect">
            <a:avLst/>
          </a:prstGeom>
          <a:noFill/>
          <a:ln/>
        </p:spPr>
        <p:txBody>
          <a:bodyPr wrap="square" rtlCol="0" anchor="ctr"/>
          <a:lstStyle/>
          <a:p>
            <a:pPr marL="0" indent="0">
              <a:buNone/>
            </a:pPr>
            <a:r>
              <a:rPr lang="en-US" b="1" dirty="0">
                <a:solidFill>
                  <a:srgbClr val="1F4E79"/>
                </a:solidFill>
                <a:latin typeface="Times New Roman" panose="02020603050405020304" pitchFamily="18" charset="0"/>
                <a:ea typeface="Calibri" pitchFamily="34" charset="-122"/>
                <a:cs typeface="Times New Roman" panose="02020603050405020304" pitchFamily="18" charset="0"/>
              </a:rPr>
              <a:t>Summary</a:t>
            </a:r>
            <a:endParaRPr lang="en-US" dirty="0">
              <a:latin typeface="Times New Roman" panose="02020603050405020304" pitchFamily="18" charset="0"/>
              <a:cs typeface="Times New Roman" panose="02020603050405020304" pitchFamily="18" charset="0"/>
            </a:endParaRPr>
          </a:p>
        </p:txBody>
      </p:sp>
      <p:sp>
        <p:nvSpPr>
          <p:cNvPr id="13" name="Text 2">
            <a:extLst>
              <a:ext uri="{FF2B5EF4-FFF2-40B4-BE49-F238E27FC236}">
                <a16:creationId xmlns:a16="http://schemas.microsoft.com/office/drawing/2014/main" id="{8FA3C5FB-1309-6110-FE5B-446D1A59211B}"/>
              </a:ext>
            </a:extLst>
          </p:cNvPr>
          <p:cNvSpPr/>
          <p:nvPr/>
        </p:nvSpPr>
        <p:spPr>
          <a:xfrm>
            <a:off x="822960" y="2011680"/>
            <a:ext cx="10515600" cy="1645920"/>
          </a:xfrm>
          <a:prstGeom prst="rect">
            <a:avLst/>
          </a:prstGeom>
          <a:noFill/>
          <a:ln/>
        </p:spPr>
        <p:txBody>
          <a:bodyPr wrap="square" rtlCol="0" anchor="t"/>
          <a:lstStyle/>
          <a:p>
            <a:pPr marL="0" indent="0" algn="just">
              <a:lnSpc>
                <a:spcPct val="125000"/>
              </a:lnSpc>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This project proposes a standalone, cryptographically verifiable chain-of-custody system for digital evidence files, combining SHA-256 hash chaining, Merkle trees, and ECDSA signatures. It fills the gap between manual custody logs (no tamper-evidence) and blockchain-based systems (unnecessary infrastructure overhead), while staying aligned with ISO/IEC 27037 and NIST SP 800-86.</a:t>
            </a:r>
            <a:endParaRPr lang="en-US" sz="1500" dirty="0">
              <a:latin typeface="Times New Roman" panose="02020603050405020304" pitchFamily="18" charset="0"/>
              <a:cs typeface="Times New Roman" panose="02020603050405020304" pitchFamily="18" charset="0"/>
            </a:endParaRPr>
          </a:p>
        </p:txBody>
      </p:sp>
      <p:sp>
        <p:nvSpPr>
          <p:cNvPr id="15" name="Text 3">
            <a:extLst>
              <a:ext uri="{FF2B5EF4-FFF2-40B4-BE49-F238E27FC236}">
                <a16:creationId xmlns:a16="http://schemas.microsoft.com/office/drawing/2014/main" id="{150B8DCA-8E28-96A5-D346-237B021910D9}"/>
              </a:ext>
            </a:extLst>
          </p:cNvPr>
          <p:cNvSpPr/>
          <p:nvPr/>
        </p:nvSpPr>
        <p:spPr>
          <a:xfrm>
            <a:off x="838200" y="3429000"/>
            <a:ext cx="5029200" cy="365760"/>
          </a:xfrm>
          <a:prstGeom prst="rect">
            <a:avLst/>
          </a:prstGeom>
          <a:noFill/>
          <a:ln/>
        </p:spPr>
        <p:txBody>
          <a:bodyPr wrap="square" rtlCol="0" anchor="ctr"/>
          <a:lstStyle/>
          <a:p>
            <a:pPr marL="0" indent="0">
              <a:buNone/>
            </a:pPr>
            <a:r>
              <a:rPr lang="en-US" b="1" dirty="0">
                <a:solidFill>
                  <a:srgbClr val="1F4E79"/>
                </a:solidFill>
                <a:latin typeface="Times New Roman" panose="02020603050405020304" pitchFamily="18" charset="0"/>
                <a:ea typeface="Calibri" pitchFamily="34" charset="-122"/>
                <a:cs typeface="Times New Roman" panose="02020603050405020304" pitchFamily="18" charset="0"/>
              </a:rPr>
              <a:t>Next Steps</a:t>
            </a:r>
            <a:endParaRPr lang="en-US" dirty="0">
              <a:latin typeface="Times New Roman" panose="02020603050405020304" pitchFamily="18" charset="0"/>
              <a:cs typeface="Times New Roman" panose="02020603050405020304" pitchFamily="18" charset="0"/>
            </a:endParaRPr>
          </a:p>
        </p:txBody>
      </p:sp>
      <p:sp>
        <p:nvSpPr>
          <p:cNvPr id="17" name="Text 4">
            <a:extLst>
              <a:ext uri="{FF2B5EF4-FFF2-40B4-BE49-F238E27FC236}">
                <a16:creationId xmlns:a16="http://schemas.microsoft.com/office/drawing/2014/main" id="{CCFDF77D-7314-39E4-ED2F-F1EC2851FC22}"/>
              </a:ext>
            </a:extLst>
          </p:cNvPr>
          <p:cNvSpPr/>
          <p:nvPr/>
        </p:nvSpPr>
        <p:spPr>
          <a:xfrm>
            <a:off x="838200" y="3886200"/>
            <a:ext cx="10515600" cy="1280160"/>
          </a:xfrm>
          <a:prstGeom prst="rect">
            <a:avLst/>
          </a:prstGeom>
          <a:noFill/>
          <a:ln/>
        </p:spPr>
        <p:txBody>
          <a:bodyPr wrap="square" rtlCol="0" anchor="t"/>
          <a:lstStyle/>
          <a:p>
            <a:pPr marL="0" indent="0" algn="just">
              <a:lnSpc>
                <a:spcPct val="125000"/>
              </a:lnSpc>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Move into implementation per the 6-week roadmap. PRC-II will demonstrate working hash-chain and Merkle tree modules, initial ECDSA signing/verification, and preliminary tampering-detection test results.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6463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13</a:t>
            </a:fld>
            <a:endParaRPr lang="en-US" dirty="0"/>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22C802-FAC0-4996-9438-F4455D720586}"/>
              </a:ext>
            </a:extLst>
          </p:cNvPr>
          <p:cNvSpPr>
            <a:spLocks noGrp="1"/>
          </p:cNvSpPr>
          <p:nvPr>
            <p:ph type="ftr" sz="quarter" idx="11"/>
          </p:nvPr>
        </p:nvSpPr>
        <p:spPr>
          <a:xfrm>
            <a:off x="4038600" y="6356350"/>
            <a:ext cx="4114800" cy="365125"/>
          </a:xfrm>
        </p:spPr>
        <p:txBody>
          <a:bodyPr/>
          <a:lstStyle/>
          <a:p>
            <a:r>
              <a:rPr lang="en-US" dirty="0"/>
              <a:t>PRC-I    </a:t>
            </a:r>
          </a:p>
        </p:txBody>
      </p:sp>
      <p:sp>
        <p:nvSpPr>
          <p:cNvPr id="10" name="Text 1">
            <a:hlinkClick r:id="rId3"/>
            <a:extLst>
              <a:ext uri="{FF2B5EF4-FFF2-40B4-BE49-F238E27FC236}">
                <a16:creationId xmlns:a16="http://schemas.microsoft.com/office/drawing/2014/main" id="{257ABBEC-D61C-94E6-40C4-E2742A967D35}"/>
              </a:ext>
            </a:extLst>
          </p:cNvPr>
          <p:cNvSpPr/>
          <p:nvPr/>
        </p:nvSpPr>
        <p:spPr>
          <a:xfrm>
            <a:off x="211676" y="1244767"/>
            <a:ext cx="11768648" cy="5248108"/>
          </a:xfrm>
          <a:prstGeom prst="rect">
            <a:avLst/>
          </a:prstGeom>
          <a:noFill/>
          <a:ln/>
        </p:spPr>
        <p:txBody>
          <a:bodyPr wrap="square" rtlCol="0" anchor="t"/>
          <a:lstStyle/>
          <a:p>
            <a:pPr marL="0" indent="0" algn="just">
              <a:lnSpc>
                <a:spcPct val="105000"/>
              </a:lnSpc>
              <a:spcAft>
                <a:spcPts val="500"/>
              </a:spcAf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1. Bonomi, Silvia, Casini, Marco, &amp; Ciccotelli, Claudio. (2018). B-CoC: A blockchain-based chain of custody for evidences management in digital forensics. arXiv.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4"/>
              </a:rPr>
              <a:t>https://arxiv.org/abs/1807.10359</a:t>
            </a:r>
            <a:endParaRPr lang="en-US" sz="1500" dirty="0">
              <a:latin typeface="Times New Roman" panose="02020603050405020304" pitchFamily="18" charset="0"/>
              <a:cs typeface="Times New Roman" panose="02020603050405020304" pitchFamily="18" charset="0"/>
            </a:endParaRPr>
          </a:p>
          <a:p>
            <a:pPr marL="0" indent="0" algn="just">
              <a:lnSpc>
                <a:spcPct val="105000"/>
              </a:lnSpc>
              <a:spcAft>
                <a:spcPts val="500"/>
              </a:spcAf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2. Yagiz, Muhammet Anil, Horasan, Fahrettin, &amp; Yurttakal, Ahmet Hasim. (2026). Lightweight tamper-evident log integrity verification for IoT edge environments: A Merkle-tree pipeline with adaptive chunking. arXiv.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5"/>
              </a:rPr>
              <a:t>https://arxiv.org/abs/2605.00065</a:t>
            </a:r>
            <a:endParaRPr lang="en-US" sz="1500" dirty="0">
              <a:latin typeface="Times New Roman" panose="02020603050405020304" pitchFamily="18" charset="0"/>
              <a:cs typeface="Times New Roman" panose="02020603050405020304" pitchFamily="18" charset="0"/>
            </a:endParaRPr>
          </a:p>
          <a:p>
            <a:pPr marL="0" indent="0" algn="just">
              <a:lnSpc>
                <a:spcPct val="105000"/>
              </a:lnSpc>
              <a:spcAft>
                <a:spcPts val="500"/>
              </a:spcAf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3. Crosby, Scott A., &amp; Wallach, Dan S. (2009). Efficient data structures for tamper-evident logging. Proceedings of the 18th USENIX Security Symposium.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6"/>
              </a:rPr>
              <a:t>https://www.researchgate.net/publication/221260542</a:t>
            </a:r>
            <a:endParaRPr lang="en-US" sz="1500" dirty="0">
              <a:latin typeface="Times New Roman" panose="02020603050405020304" pitchFamily="18" charset="0"/>
              <a:cs typeface="Times New Roman" panose="02020603050405020304" pitchFamily="18" charset="0"/>
            </a:endParaRPr>
          </a:p>
          <a:p>
            <a:pPr algn="just">
              <a:lnSpc>
                <a:spcPct val="105000"/>
              </a:lnSpc>
              <a:spcAft>
                <a:spcPts val="500"/>
              </a:spcAft>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4. Lone, Auqib Hamid, &amp; Mir, Roohie Naaz. (2019). Forensic-chain: Blockchain based digital forensics chain of custody with PoC in Hyperledger Composer. Digital Investigation. </a:t>
            </a:r>
            <a:r>
              <a:rPr lang="en-IN" sz="1500" dirty="0">
                <a:latin typeface="Times New Roman" panose="02020603050405020304" pitchFamily="18" charset="0"/>
                <a:cs typeface="Times New Roman" panose="02020603050405020304" pitchFamily="18" charset="0"/>
                <a:hlinkClick r:id="rId7"/>
              </a:rPr>
              <a:t>https://www.sciencedirect.com/science/article/abs/pii/S174228761830344X</a:t>
            </a:r>
            <a:endParaRPr lang="en-US" sz="1500" dirty="0">
              <a:latin typeface="Times New Roman" panose="02020603050405020304" pitchFamily="18" charset="0"/>
              <a:cs typeface="Times New Roman" panose="02020603050405020304" pitchFamily="18" charset="0"/>
            </a:endParaRPr>
          </a:p>
          <a:p>
            <a:pPr marL="0" indent="0" algn="just">
              <a:lnSpc>
                <a:spcPct val="105000"/>
              </a:lnSpc>
              <a:spcAft>
                <a:spcPts val="500"/>
              </a:spcAf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5. Liza Ahmad, Salam </a:t>
            </a:r>
            <a:r>
              <a:rPr lang="en-US" sz="1500" dirty="0" err="1">
                <a:solidFill>
                  <a:srgbClr val="1A1A1A"/>
                </a:solidFill>
                <a:latin typeface="Times New Roman" panose="02020603050405020304" pitchFamily="18" charset="0"/>
                <a:ea typeface="Calibri" pitchFamily="34" charset="-122"/>
                <a:cs typeface="Times New Roman" panose="02020603050405020304" pitchFamily="18" charset="0"/>
              </a:rPr>
              <a:t>Khanji</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 </a:t>
            </a:r>
            <a:r>
              <a:rPr lang="en-US" sz="1500" dirty="0" err="1">
                <a:solidFill>
                  <a:srgbClr val="1A1A1A"/>
                </a:solidFill>
                <a:latin typeface="Times New Roman" panose="02020603050405020304" pitchFamily="18" charset="0"/>
                <a:ea typeface="Calibri" pitchFamily="34" charset="-122"/>
                <a:cs typeface="Times New Roman" panose="02020603050405020304" pitchFamily="18" charset="0"/>
              </a:rPr>
              <a:t>Farkhund</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 Iqbal, &amp; Faouzi Kamoun. (2020). Blockchain-based chain of custody. In Proceedings of the 15th International Conference on Availability, Reliability and Security (ARES '20). Association for Computing Machinery.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8"/>
              </a:rPr>
              <a:t>https://dl.acm.org/doi/10.1145/3407023.3409199</a:t>
            </a:r>
            <a:endParaRPr lang="en-US" sz="1500" dirty="0">
              <a:latin typeface="Times New Roman" panose="02020603050405020304" pitchFamily="18" charset="0"/>
              <a:cs typeface="Times New Roman" panose="02020603050405020304" pitchFamily="18" charset="0"/>
            </a:endParaRPr>
          </a:p>
          <a:p>
            <a:pPr algn="just">
              <a:lnSpc>
                <a:spcPct val="105000"/>
              </a:lnSpc>
              <a:spcAft>
                <a:spcPts val="500"/>
              </a:spcAft>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6. Harsh Patil, </a:t>
            </a:r>
            <a:r>
              <a:rPr lang="en-US" sz="1500" dirty="0" err="1">
                <a:solidFill>
                  <a:srgbClr val="1A1A1A"/>
                </a:solidFill>
                <a:latin typeface="Times New Roman" panose="02020603050405020304" pitchFamily="18" charset="0"/>
                <a:ea typeface="Calibri" pitchFamily="34" charset="-122"/>
                <a:cs typeface="Times New Roman" panose="02020603050405020304" pitchFamily="18" charset="0"/>
              </a:rPr>
              <a:t>Ravshish</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 Kaur Kohli, Sorabh Puri &amp; Pooja Puri. (2024). Potential applicability of blockchain technology in the maintenance of chain of custody in forensic casework. Egyptian Journal of Forensic Sciences.</a:t>
            </a:r>
            <a:r>
              <a:rPr lang="en-IN" sz="1500" dirty="0">
                <a:latin typeface="Times New Roman" panose="02020603050405020304" pitchFamily="18" charset="0"/>
                <a:cs typeface="Times New Roman" panose="02020603050405020304" pitchFamily="18" charset="0"/>
                <a:hlinkClick r:id="rId9"/>
              </a:rPr>
              <a:t>https://link.springer.com/article/10.1186/s41935-023-00383-w</a:t>
            </a:r>
            <a:endParaRPr lang="en-US" sz="1500" dirty="0">
              <a:latin typeface="Times New Roman" panose="02020603050405020304" pitchFamily="18" charset="0"/>
              <a:cs typeface="Times New Roman" panose="02020603050405020304" pitchFamily="18" charset="0"/>
            </a:endParaRPr>
          </a:p>
          <a:p>
            <a:pPr marL="0" indent="0" algn="just">
              <a:lnSpc>
                <a:spcPct val="105000"/>
              </a:lnSpc>
              <a:spcAft>
                <a:spcPts val="500"/>
              </a:spcAf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7. Al-Khateeb, Haider M., Epiphaniou, Gregory, &amp; Daly, Herbert. (2019). Blockchain for modern digital forensics: The chain-of-custody as a distributed ledger.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10"/>
              </a:rPr>
              <a:t>https://www.researchgate.net/publication/332594361</a:t>
            </a:r>
            <a:endParaRPr lang="en-US" sz="1500" dirty="0">
              <a:latin typeface="Times New Roman" panose="02020603050405020304" pitchFamily="18" charset="0"/>
              <a:cs typeface="Times New Roman" panose="02020603050405020304" pitchFamily="18" charset="0"/>
            </a:endParaRPr>
          </a:p>
          <a:p>
            <a:pPr marL="0" indent="0" algn="just">
              <a:lnSpc>
                <a:spcPct val="105000"/>
              </a:lnSpc>
              <a:spcAft>
                <a:spcPts val="500"/>
              </a:spcAft>
              <a:buNone/>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8. Febin Prakash, Harsh </a:t>
            </a:r>
            <a:r>
              <a:rPr lang="en-US" sz="1500" dirty="0" err="1">
                <a:solidFill>
                  <a:srgbClr val="1A1A1A"/>
                </a:solidFill>
                <a:latin typeface="Times New Roman" panose="02020603050405020304" pitchFamily="18" charset="0"/>
                <a:ea typeface="Calibri" pitchFamily="34" charset="-122"/>
                <a:cs typeface="Times New Roman" panose="02020603050405020304" pitchFamily="18" charset="0"/>
              </a:rPr>
              <a:t>Sadawarti</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 (2024). Blockchain-based chain of custody: A secure digital evidence framework for digital forensics investigation.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11"/>
              </a:rPr>
              <a:t>https://www.researchgate.net/publication/380909587</a:t>
            </a:r>
            <a:endParaRPr lang="en-US" sz="1500" dirty="0">
              <a:solidFill>
                <a:srgbClr val="1A1A1A"/>
              </a:solidFill>
              <a:latin typeface="Times New Roman" panose="02020603050405020304" pitchFamily="18" charset="0"/>
              <a:ea typeface="Calibri" pitchFamily="34" charset="-122"/>
              <a:cs typeface="Times New Roman" panose="02020603050405020304" pitchFamily="18" charset="0"/>
            </a:endParaRPr>
          </a:p>
        </p:txBody>
      </p:sp>
    </p:spTree>
    <p:extLst>
      <p:ext uri="{BB962C8B-B14F-4D97-AF65-F5344CB8AC3E}">
        <p14:creationId xmlns:p14="http://schemas.microsoft.com/office/powerpoint/2010/main" val="2116982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F234C6-2DBC-19E8-5D92-6E95BEF0335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4F6E5F4-DFE5-8452-03A1-EB1293D1FCB5}"/>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5" name="Date Placeholder 4">
            <a:extLst>
              <a:ext uri="{FF2B5EF4-FFF2-40B4-BE49-F238E27FC236}">
                <a16:creationId xmlns:a16="http://schemas.microsoft.com/office/drawing/2014/main" id="{609478D3-06B6-8DA3-CD2B-5A5B916EF4E8}"/>
              </a:ext>
            </a:extLst>
          </p:cNvPr>
          <p:cNvSpPr>
            <a:spLocks noGrp="1"/>
          </p:cNvSpPr>
          <p:nvPr>
            <p:ph type="dt" sz="half" idx="10"/>
          </p:nvPr>
        </p:nvSpPr>
        <p:spPr/>
        <p:txBody>
          <a:bodyPr/>
          <a:lstStyle/>
          <a:p>
            <a:fld id="{196CB346-A29B-614A-90B7-3F58220E4132}" type="datetime1">
              <a:rPr lang="en-IN" smtClean="0"/>
              <a:t>28-08-2026</a:t>
            </a:fld>
            <a:endParaRPr lang="en-US" dirty="0"/>
          </a:p>
        </p:txBody>
      </p:sp>
      <p:sp>
        <p:nvSpPr>
          <p:cNvPr id="7" name="Slide Number Placeholder 6">
            <a:extLst>
              <a:ext uri="{FF2B5EF4-FFF2-40B4-BE49-F238E27FC236}">
                <a16:creationId xmlns:a16="http://schemas.microsoft.com/office/drawing/2014/main" id="{9BEB56D9-012E-76A3-A3C8-A33E8BBDAD43}"/>
              </a:ext>
            </a:extLst>
          </p:cNvPr>
          <p:cNvSpPr>
            <a:spLocks noGrp="1"/>
          </p:cNvSpPr>
          <p:nvPr>
            <p:ph type="sldNum" sz="quarter" idx="12"/>
          </p:nvPr>
        </p:nvSpPr>
        <p:spPr/>
        <p:txBody>
          <a:bodyPr/>
          <a:lstStyle/>
          <a:p>
            <a:fld id="{B961B71F-4B40-8942-BB88-E0F5C0B46E10}" type="slidenum">
              <a:rPr lang="en-US" smtClean="0"/>
              <a:t>14</a:t>
            </a:fld>
            <a:endParaRPr lang="en-US" dirty="0"/>
          </a:p>
        </p:txBody>
      </p:sp>
      <p:pic>
        <p:nvPicPr>
          <p:cNvPr id="2" name="Picture 1">
            <a:extLst>
              <a:ext uri="{FF2B5EF4-FFF2-40B4-BE49-F238E27FC236}">
                <a16:creationId xmlns:a16="http://schemas.microsoft.com/office/drawing/2014/main" id="{CDC412A6-2D00-427B-C609-D2D25E2CB0BA}"/>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CD383F93-AF18-12B0-9877-4CC841D7C383}"/>
              </a:ext>
            </a:extLst>
          </p:cNvPr>
          <p:cNvSpPr>
            <a:spLocks noGrp="1"/>
          </p:cNvSpPr>
          <p:nvPr>
            <p:ph type="ftr" sz="quarter" idx="11"/>
          </p:nvPr>
        </p:nvSpPr>
        <p:spPr>
          <a:xfrm>
            <a:off x="4038600" y="6356350"/>
            <a:ext cx="4114800" cy="365125"/>
          </a:xfrm>
        </p:spPr>
        <p:txBody>
          <a:bodyPr/>
          <a:lstStyle/>
          <a:p>
            <a:r>
              <a:rPr lang="en-US" dirty="0"/>
              <a:t>PRC-I    </a:t>
            </a:r>
          </a:p>
        </p:txBody>
      </p:sp>
      <p:sp>
        <p:nvSpPr>
          <p:cNvPr id="10" name="Text 1">
            <a:hlinkClick r:id="rId3"/>
            <a:extLst>
              <a:ext uri="{FF2B5EF4-FFF2-40B4-BE49-F238E27FC236}">
                <a16:creationId xmlns:a16="http://schemas.microsoft.com/office/drawing/2014/main" id="{D90319E9-9055-5EAA-7CAA-B7F0389EC5BC}"/>
              </a:ext>
            </a:extLst>
          </p:cNvPr>
          <p:cNvSpPr/>
          <p:nvPr/>
        </p:nvSpPr>
        <p:spPr>
          <a:xfrm>
            <a:off x="211676" y="1244767"/>
            <a:ext cx="11768648" cy="5248108"/>
          </a:xfrm>
          <a:prstGeom prst="rect">
            <a:avLst/>
          </a:prstGeom>
          <a:noFill/>
          <a:ln/>
        </p:spPr>
        <p:txBody>
          <a:bodyPr wrap="square" rtlCol="0" anchor="t"/>
          <a:lstStyle/>
          <a:p>
            <a:pPr algn="just">
              <a:lnSpc>
                <a:spcPct val="105000"/>
              </a:lnSpc>
              <a:spcAft>
                <a:spcPts val="500"/>
              </a:spcAft>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9. Adir Miller, Avinash Singh. Chain of custody and evidence integrity verification using smart contracts. International Conference on Cyber Warfare and Security.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4"/>
              </a:rPr>
              <a:t>https://papers.academic-conferences.org/index.php/iccws/article/download/2025/1940/7598</a:t>
            </a:r>
            <a:endParaRPr lang="en-US" sz="1500" dirty="0">
              <a:solidFill>
                <a:srgbClr val="1A1A1A"/>
              </a:solidFill>
              <a:latin typeface="Times New Roman" panose="02020603050405020304" pitchFamily="18" charset="0"/>
              <a:ea typeface="Calibri" pitchFamily="34" charset="-122"/>
              <a:cs typeface="Times New Roman" panose="02020603050405020304" pitchFamily="18" charset="0"/>
            </a:endParaRPr>
          </a:p>
          <a:p>
            <a:pPr algn="just">
              <a:lnSpc>
                <a:spcPct val="105000"/>
              </a:lnSpc>
              <a:spcAft>
                <a:spcPts val="500"/>
              </a:spcAft>
            </a:pPr>
            <a:r>
              <a:rPr lang="en-US" sz="1500" dirty="0">
                <a:solidFill>
                  <a:srgbClr val="1A1A1A"/>
                </a:solidFill>
                <a:latin typeface="Times New Roman" panose="02020603050405020304" pitchFamily="18" charset="0"/>
                <a:ea typeface="Calibri" pitchFamily="34" charset="-122"/>
                <a:cs typeface="Times New Roman" panose="02020603050405020304" pitchFamily="18" charset="0"/>
              </a:rPr>
              <a:t>10. Sakshi, Aruna Malik, Ajay K. Sharma. (2023). Blockchain-based digital chain of custody multimedia evidence preservation framework for IoT. Journal of King Saud University – Computer and Information Sciences. </a:t>
            </a:r>
            <a:r>
              <a:rPr lang="en-US" sz="1500" dirty="0">
                <a:solidFill>
                  <a:srgbClr val="1A1A1A"/>
                </a:solidFill>
                <a:latin typeface="Times New Roman" panose="02020603050405020304" pitchFamily="18" charset="0"/>
                <a:ea typeface="Calibri" pitchFamily="34" charset="-122"/>
                <a:cs typeface="Times New Roman" panose="02020603050405020304" pitchFamily="18" charset="0"/>
                <a:hlinkClick r:id="rId3"/>
              </a:rPr>
              <a:t>https://www.sciencedirect.com/science/article/abs/pii/S2214212623001631</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5739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15</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8" name="Footer Placeholder 2">
            <a:extLst>
              <a:ext uri="{FF2B5EF4-FFF2-40B4-BE49-F238E27FC236}">
                <a16:creationId xmlns:a16="http://schemas.microsoft.com/office/drawing/2014/main" id="{410A2BD5-B048-435C-9BAE-2FCD927007A1}"/>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7246</TotalTime>
  <Words>2293</Words>
  <Application>Microsoft Office PowerPoint</Application>
  <PresentationFormat>Widescreen</PresentationFormat>
  <Paragraphs>343</Paragraphs>
  <Slides>15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Calibri Light</vt:lpstr>
      <vt:lpstr>Times New Roman</vt:lpstr>
      <vt:lpstr>Office Theme</vt:lpstr>
      <vt:lpstr>Custom Design</vt:lpstr>
      <vt:lpstr>ENGINEERING CAPSTONE PROJECT – 1/INDUSTRIAL INTERNSHIP/ INDUSTRIAL INTERNSHIP PHASE-I Project Review-1 Project Title: Verifiable Chain-of-Custody for Digital Evidence Files</vt:lpstr>
      <vt:lpstr>OUTLINE</vt:lpstr>
      <vt:lpstr>Introduction</vt:lpstr>
      <vt:lpstr>Problem Statement</vt:lpstr>
      <vt:lpstr>Objectives </vt:lpstr>
      <vt:lpstr>Literature Survey</vt:lpstr>
      <vt:lpstr>Literature Survey</vt:lpstr>
      <vt:lpstr>Literature Survey</vt:lpstr>
      <vt:lpstr>Research Gap Identification</vt:lpstr>
      <vt:lpstr>Innovation, Creativity, and Novelty</vt:lpstr>
      <vt:lpstr>Feasibility and Project Plan</vt:lpstr>
      <vt:lpstr>Conclusion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CHILAKAPATI SRIJAYA CHAKRADHAR .</cp:lastModifiedBy>
  <cp:revision>201</cp:revision>
  <cp:lastPrinted>2025-06-24T13:51:00Z</cp:lastPrinted>
  <dcterms:created xsi:type="dcterms:W3CDTF">2022-05-20T10:20:00Z</dcterms:created>
  <dcterms:modified xsi:type="dcterms:W3CDTF">2026-08-28T04:32:49Z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8501A877F9FA4B8DAC5FC0ABD71A7E4E_12</vt:lpwstr>
  </property>
  <property fmtid="{D5CDD505-2E9C-101B-9397-08002B2CF9AE}" pid="3" name="KSOProductBuildVer">
    <vt:lpwstr>1033-12.2.0.23196</vt:lpwstr>
  </property>
</Properties>
</file>